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17"/>
  </p:notesMasterIdLst>
  <p:handoutMasterIdLst>
    <p:handoutMasterId r:id="rId18"/>
  </p:handoutMasterIdLst>
  <p:sldIdLst>
    <p:sldId id="2561" r:id="rId5"/>
    <p:sldId id="2565" r:id="rId6"/>
    <p:sldId id="2570" r:id="rId7"/>
    <p:sldId id="2568" r:id="rId8"/>
    <p:sldId id="2567" r:id="rId9"/>
    <p:sldId id="2577" r:id="rId10"/>
    <p:sldId id="2571" r:id="rId11"/>
    <p:sldId id="2572" r:id="rId12"/>
    <p:sldId id="2579" r:id="rId13"/>
    <p:sldId id="2578" r:id="rId14"/>
    <p:sldId id="2575" r:id="rId15"/>
    <p:sldId id="25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mart Home System Architecture" id="{92155964-59A9-4BC9-8767-02821967FAF5}">
          <p14:sldIdLst>
            <p14:sldId id="2561"/>
          </p14:sldIdLst>
        </p14:section>
        <p14:section name="Introduction" id="{F4D10485-D152-4C27-B011-F321EEFB681D}">
          <p14:sldIdLst>
            <p14:sldId id="2565"/>
            <p14:sldId id="2570"/>
            <p14:sldId id="2568"/>
            <p14:sldId id="2567"/>
            <p14:sldId id="2577"/>
            <p14:sldId id="2571"/>
            <p14:sldId id="2572"/>
            <p14:sldId id="2579"/>
            <p14:sldId id="2578"/>
          </p14:sldIdLst>
        </p14:section>
        <p14:section name="System Goals and Functional Description" id="{F10118F7-8A40-4035-B8CB-BA2B4C93DC4A}">
          <p14:sldIdLst>
            <p14:sldId id="2575"/>
            <p14:sldId id="2576"/>
          </p14:sldIdLst>
        </p14:section>
        <p14:section name="Architectural Quality Attributes" id="{515F35AD-64DC-46CE-94C8-7E6D1066E502}">
          <p14:sldIdLst/>
        </p14:section>
        <p14:section name="System Diagrams" id="{C62C1A69-B87A-435E-AE4D-197589BC226D}">
          <p14:sldIdLst/>
        </p14:section>
        <p14:section name="Architectural Patterns and Key Learnings" id="{8B838E16-7963-46BB-9146-62E8F1E21CE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E1DF6-E99E-6794-0DEF-0A02558189C1}" v="45" dt="2025-10-31T15:31:21.932"/>
    <p1510:client id="{A91A3C72-C84A-4851-AE29-219053E0BF86}" v="15" dt="2025-10-31T15:26:04.396"/>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468"/>
  </p:normalViewPr>
  <p:slideViewPr>
    <p:cSldViewPr snapToGrid="0">
      <p:cViewPr varScale="1">
        <p:scale>
          <a:sx n="56" d="100"/>
          <a:sy n="56" d="100"/>
        </p:scale>
        <p:origin x="72" y="412"/>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B9A595-4D54-4C89-9DB2-D91BAE424574}"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F0186F34-53E8-4B40-B7F1-5AB3C651BA56}">
      <dgm:prSet/>
      <dgm:spPr/>
      <dgm:t>
        <a:bodyPr/>
        <a:lstStyle/>
        <a:p>
          <a:pPr>
            <a:lnSpc>
              <a:spcPct val="100000"/>
            </a:lnSpc>
            <a:defRPr b="1"/>
          </a:pPr>
          <a:r>
            <a:rPr lang="en-US" dirty="0"/>
            <a:t>Visualize System Deployment</a:t>
          </a:r>
        </a:p>
      </dgm:t>
    </dgm:pt>
    <dgm:pt modelId="{B292DA15-80CF-48FC-AB2F-6A0FF673024B}" type="parTrans" cxnId="{BC1F72C1-F4B8-49F9-9FF6-5439D6A47466}">
      <dgm:prSet/>
      <dgm:spPr/>
      <dgm:t>
        <a:bodyPr/>
        <a:lstStyle/>
        <a:p>
          <a:endParaRPr lang="en-US"/>
        </a:p>
      </dgm:t>
    </dgm:pt>
    <dgm:pt modelId="{731B0834-B222-413B-B783-E2122C7DB989}" type="sibTrans" cxnId="{BC1F72C1-F4B8-49F9-9FF6-5439D6A47466}">
      <dgm:prSet/>
      <dgm:spPr/>
      <dgm:t>
        <a:bodyPr/>
        <a:lstStyle/>
        <a:p>
          <a:pPr>
            <a:lnSpc>
              <a:spcPct val="100000"/>
            </a:lnSpc>
            <a:defRPr b="1"/>
          </a:pPr>
          <a:endParaRPr lang="en-US"/>
        </a:p>
      </dgm:t>
    </dgm:pt>
    <dgm:pt modelId="{30BBF959-3975-413B-99EB-2FF21369F006}">
      <dgm:prSet/>
      <dgm:spPr/>
      <dgm:t>
        <a:bodyPr/>
        <a:lstStyle/>
        <a:p>
          <a:pPr>
            <a:lnSpc>
              <a:spcPct val="100000"/>
            </a:lnSpc>
          </a:pPr>
          <a:r>
            <a:rPr lang="en-US"/>
            <a:t>Shows how components are deployed across environments including cloud and local hubs.</a:t>
          </a:r>
        </a:p>
      </dgm:t>
    </dgm:pt>
    <dgm:pt modelId="{C60CAC0B-F98E-408F-8ED3-0CD3FB115632}" type="parTrans" cxnId="{7D792BC8-B086-429D-BFCB-06947845A93C}">
      <dgm:prSet/>
      <dgm:spPr/>
      <dgm:t>
        <a:bodyPr/>
        <a:lstStyle/>
        <a:p>
          <a:endParaRPr lang="en-US"/>
        </a:p>
      </dgm:t>
    </dgm:pt>
    <dgm:pt modelId="{2E775E65-9961-4360-B427-0DB3BDC22210}" type="sibTrans" cxnId="{7D792BC8-B086-429D-BFCB-06947845A93C}">
      <dgm:prSet/>
      <dgm:spPr/>
      <dgm:t>
        <a:bodyPr/>
        <a:lstStyle/>
        <a:p>
          <a:endParaRPr lang="en-US"/>
        </a:p>
      </dgm:t>
    </dgm:pt>
    <dgm:pt modelId="{4D73E290-B09D-42F9-9CF7-D7688AE5AFF1}">
      <dgm:prSet/>
      <dgm:spPr/>
      <dgm:t>
        <a:bodyPr/>
        <a:lstStyle/>
        <a:p>
          <a:pPr>
            <a:lnSpc>
              <a:spcPct val="100000"/>
            </a:lnSpc>
            <a:defRPr b="1"/>
          </a:pPr>
          <a:r>
            <a:rPr lang="en-US"/>
            <a:t>Operational Infrastructure Insight</a:t>
          </a:r>
        </a:p>
      </dgm:t>
    </dgm:pt>
    <dgm:pt modelId="{1A4545D7-6D4B-44A1-A3F5-678A5C9A5603}" type="parTrans" cxnId="{C7FA9302-4087-4D03-83F6-BD6023CCAA2E}">
      <dgm:prSet/>
      <dgm:spPr/>
      <dgm:t>
        <a:bodyPr/>
        <a:lstStyle/>
        <a:p>
          <a:endParaRPr lang="en-US"/>
        </a:p>
      </dgm:t>
    </dgm:pt>
    <dgm:pt modelId="{E18D2C6D-2F42-4A02-A782-9F9E671D6265}" type="sibTrans" cxnId="{C7FA9302-4087-4D03-83F6-BD6023CCAA2E}">
      <dgm:prSet/>
      <dgm:spPr/>
      <dgm:t>
        <a:bodyPr/>
        <a:lstStyle/>
        <a:p>
          <a:pPr>
            <a:lnSpc>
              <a:spcPct val="100000"/>
            </a:lnSpc>
            <a:defRPr b="1"/>
          </a:pPr>
          <a:endParaRPr lang="en-US"/>
        </a:p>
      </dgm:t>
    </dgm:pt>
    <dgm:pt modelId="{3E9E0AB5-0690-4BC6-87F0-AE642D055BE1}">
      <dgm:prSet/>
      <dgm:spPr/>
      <dgm:t>
        <a:bodyPr/>
        <a:lstStyle/>
        <a:p>
          <a:pPr>
            <a:lnSpc>
              <a:spcPct val="100000"/>
            </a:lnSpc>
          </a:pPr>
          <a:r>
            <a:rPr lang="en-US"/>
            <a:t>Helps teams understand infrastructure setup for cost estimation and deployment planning.</a:t>
          </a:r>
        </a:p>
      </dgm:t>
    </dgm:pt>
    <dgm:pt modelId="{6DBD1857-6236-4CFD-A98A-ECAAD7AD1F31}" type="parTrans" cxnId="{C666DD0A-A42C-45FF-9B6C-B8041BB6D1B1}">
      <dgm:prSet/>
      <dgm:spPr/>
      <dgm:t>
        <a:bodyPr/>
        <a:lstStyle/>
        <a:p>
          <a:endParaRPr lang="en-US"/>
        </a:p>
      </dgm:t>
    </dgm:pt>
    <dgm:pt modelId="{14A10529-8AEF-4E76-9BF5-3D53428B7F6A}" type="sibTrans" cxnId="{C666DD0A-A42C-45FF-9B6C-B8041BB6D1B1}">
      <dgm:prSet/>
      <dgm:spPr/>
      <dgm:t>
        <a:bodyPr/>
        <a:lstStyle/>
        <a:p>
          <a:endParaRPr lang="en-US"/>
        </a:p>
      </dgm:t>
    </dgm:pt>
    <dgm:pt modelId="{A8228154-066F-4661-8C7E-40157A542D14}">
      <dgm:prSet/>
      <dgm:spPr/>
      <dgm:t>
        <a:bodyPr/>
        <a:lstStyle/>
        <a:p>
          <a:pPr>
            <a:lnSpc>
              <a:spcPct val="100000"/>
            </a:lnSpc>
            <a:defRPr b="1"/>
          </a:pPr>
          <a:r>
            <a:rPr lang="en-US"/>
            <a:t>Redundancy and Scalability</a:t>
          </a:r>
        </a:p>
      </dgm:t>
    </dgm:pt>
    <dgm:pt modelId="{BDE703BA-AC43-436F-AF5E-B7476C281C74}" type="parTrans" cxnId="{70D23D88-7C04-4543-9025-5996F9BF5450}">
      <dgm:prSet/>
      <dgm:spPr/>
      <dgm:t>
        <a:bodyPr/>
        <a:lstStyle/>
        <a:p>
          <a:endParaRPr lang="en-US"/>
        </a:p>
      </dgm:t>
    </dgm:pt>
    <dgm:pt modelId="{B12A83B1-86CF-4029-ACE9-B73E1157E01A}" type="sibTrans" cxnId="{70D23D88-7C04-4543-9025-5996F9BF5450}">
      <dgm:prSet/>
      <dgm:spPr/>
      <dgm:t>
        <a:bodyPr/>
        <a:lstStyle/>
        <a:p>
          <a:endParaRPr lang="en-US"/>
        </a:p>
      </dgm:t>
    </dgm:pt>
    <dgm:pt modelId="{1ED251C7-9B83-483D-98C6-E0136323C453}">
      <dgm:prSet/>
      <dgm:spPr/>
      <dgm:t>
        <a:bodyPr/>
        <a:lstStyle/>
        <a:p>
          <a:pPr>
            <a:lnSpc>
              <a:spcPct val="100000"/>
            </a:lnSpc>
          </a:pPr>
          <a:r>
            <a:rPr lang="en-US"/>
            <a:t>Illustrates built-in redundancy and scalability features supporting system reliability.</a:t>
          </a:r>
        </a:p>
      </dgm:t>
    </dgm:pt>
    <dgm:pt modelId="{CF5CAFBE-7815-4AC5-A761-67AB39DF921E}" type="parTrans" cxnId="{208D63B8-87E5-43AD-A1FE-ECBD1AE3AA8D}">
      <dgm:prSet/>
      <dgm:spPr/>
      <dgm:t>
        <a:bodyPr/>
        <a:lstStyle/>
        <a:p>
          <a:endParaRPr lang="en-US"/>
        </a:p>
      </dgm:t>
    </dgm:pt>
    <dgm:pt modelId="{E256E5EE-B439-43D2-9866-0DA74E50EF03}" type="sibTrans" cxnId="{208D63B8-87E5-43AD-A1FE-ECBD1AE3AA8D}">
      <dgm:prSet/>
      <dgm:spPr/>
      <dgm:t>
        <a:bodyPr/>
        <a:lstStyle/>
        <a:p>
          <a:endParaRPr lang="en-US"/>
        </a:p>
      </dgm:t>
    </dgm:pt>
    <dgm:pt modelId="{E63A3E6E-8258-4F8E-A2AD-93E96B9750A7}" type="pres">
      <dgm:prSet presAssocID="{86B9A595-4D54-4C89-9DB2-D91BAE424574}" presName="Name0" presStyleCnt="0">
        <dgm:presLayoutVars>
          <dgm:dir/>
          <dgm:resizeHandles val="exact"/>
        </dgm:presLayoutVars>
      </dgm:prSet>
      <dgm:spPr/>
    </dgm:pt>
    <dgm:pt modelId="{4A93899A-0239-44C1-BC11-617D99405DC0}" type="pres">
      <dgm:prSet presAssocID="{F0186F34-53E8-4B40-B7F1-5AB3C651BA56}" presName="compNode" presStyleCnt="0"/>
      <dgm:spPr/>
    </dgm:pt>
    <dgm:pt modelId="{F584C134-4EA4-4A1D-B6DE-20CBA9348F67}" type="pres">
      <dgm:prSet presAssocID="{F0186F34-53E8-4B40-B7F1-5AB3C651BA56}" presName="pictRect" presStyleLbl="revTx" presStyleIdx="0" presStyleCnt="6">
        <dgm:presLayoutVars>
          <dgm:chMax val="0"/>
          <dgm:bulletEnabled/>
        </dgm:presLayoutVars>
      </dgm:prSet>
      <dgm:spPr/>
    </dgm:pt>
    <dgm:pt modelId="{B96B771B-521F-4779-A9A0-89C4842C2E17}" type="pres">
      <dgm:prSet presAssocID="{F0186F34-53E8-4B40-B7F1-5AB3C651BA56}" presName="textRect" presStyleLbl="revTx" presStyleIdx="1" presStyleCnt="6">
        <dgm:presLayoutVars>
          <dgm:bulletEnabled/>
        </dgm:presLayoutVars>
      </dgm:prSet>
      <dgm:spPr/>
    </dgm:pt>
    <dgm:pt modelId="{86212431-6DD5-4206-9446-CAF2E862089C}" type="pres">
      <dgm:prSet presAssocID="{731B0834-B222-413B-B783-E2122C7DB989}" presName="sibTrans" presStyleLbl="sibTrans2D1" presStyleIdx="0" presStyleCnt="0"/>
      <dgm:spPr/>
    </dgm:pt>
    <dgm:pt modelId="{EC569322-BD74-41A9-B5FF-CD8BB31EAE44}" type="pres">
      <dgm:prSet presAssocID="{4D73E290-B09D-42F9-9CF7-D7688AE5AFF1}" presName="compNode" presStyleCnt="0"/>
      <dgm:spPr/>
    </dgm:pt>
    <dgm:pt modelId="{B82C8E78-DEC5-47AF-96C0-34C7D39AE926}" type="pres">
      <dgm:prSet presAssocID="{4D73E290-B09D-42F9-9CF7-D7688AE5AFF1}" presName="pictRect" presStyleLbl="revTx" presStyleIdx="2" presStyleCnt="6">
        <dgm:presLayoutVars>
          <dgm:chMax val="0"/>
          <dgm:bulletEnabled/>
        </dgm:presLayoutVars>
      </dgm:prSet>
      <dgm:spPr/>
    </dgm:pt>
    <dgm:pt modelId="{D5FACD27-FEE8-4704-AB29-041254FF8436}" type="pres">
      <dgm:prSet presAssocID="{4D73E290-B09D-42F9-9CF7-D7688AE5AFF1}" presName="textRect" presStyleLbl="revTx" presStyleIdx="3" presStyleCnt="6">
        <dgm:presLayoutVars>
          <dgm:bulletEnabled/>
        </dgm:presLayoutVars>
      </dgm:prSet>
      <dgm:spPr/>
    </dgm:pt>
    <dgm:pt modelId="{308197CC-7B27-4B25-80A0-371B0E9B181F}" type="pres">
      <dgm:prSet presAssocID="{E18D2C6D-2F42-4A02-A782-9F9E671D6265}" presName="sibTrans" presStyleLbl="sibTrans2D1" presStyleIdx="0" presStyleCnt="0"/>
      <dgm:spPr/>
    </dgm:pt>
    <dgm:pt modelId="{3C4351A1-CB3D-4F72-89DC-B0932E1F85A8}" type="pres">
      <dgm:prSet presAssocID="{A8228154-066F-4661-8C7E-40157A542D14}" presName="compNode" presStyleCnt="0"/>
      <dgm:spPr/>
    </dgm:pt>
    <dgm:pt modelId="{FF2AAF6E-04B7-40C2-9E4B-FD49D91AF232}" type="pres">
      <dgm:prSet presAssocID="{A8228154-066F-4661-8C7E-40157A542D14}" presName="pictRect" presStyleLbl="revTx" presStyleIdx="4" presStyleCnt="6">
        <dgm:presLayoutVars>
          <dgm:chMax val="0"/>
          <dgm:bulletEnabled/>
        </dgm:presLayoutVars>
      </dgm:prSet>
      <dgm:spPr/>
    </dgm:pt>
    <dgm:pt modelId="{82DD7CD2-6790-4DBE-900A-172F430F6B31}" type="pres">
      <dgm:prSet presAssocID="{A8228154-066F-4661-8C7E-40157A542D14}" presName="textRect" presStyleLbl="revTx" presStyleIdx="5" presStyleCnt="6">
        <dgm:presLayoutVars>
          <dgm:bulletEnabled/>
        </dgm:presLayoutVars>
      </dgm:prSet>
      <dgm:spPr/>
    </dgm:pt>
  </dgm:ptLst>
  <dgm:cxnLst>
    <dgm:cxn modelId="{C7FA9302-4087-4D03-83F6-BD6023CCAA2E}" srcId="{86B9A595-4D54-4C89-9DB2-D91BAE424574}" destId="{4D73E290-B09D-42F9-9CF7-D7688AE5AFF1}" srcOrd="1" destOrd="0" parTransId="{1A4545D7-6D4B-44A1-A3F5-678A5C9A5603}" sibTransId="{E18D2C6D-2F42-4A02-A782-9F9E671D6265}"/>
    <dgm:cxn modelId="{C666DD0A-A42C-45FF-9B6C-B8041BB6D1B1}" srcId="{4D73E290-B09D-42F9-9CF7-D7688AE5AFF1}" destId="{3E9E0AB5-0690-4BC6-87F0-AE642D055BE1}" srcOrd="0" destOrd="0" parTransId="{6DBD1857-6236-4CFD-A98A-ECAAD7AD1F31}" sibTransId="{14A10529-8AEF-4E76-9BF5-3D53428B7F6A}"/>
    <dgm:cxn modelId="{1492B947-F03F-4E11-9F87-1E41367636FD}" type="presOf" srcId="{A8228154-066F-4661-8C7E-40157A542D14}" destId="{FF2AAF6E-04B7-40C2-9E4B-FD49D91AF232}" srcOrd="0" destOrd="0" presId="urn:microsoft.com/office/officeart/2024/3/layout/hArchList1"/>
    <dgm:cxn modelId="{570FAB48-7B26-4EE6-96DB-4F8D99F90384}" type="presOf" srcId="{731B0834-B222-413B-B783-E2122C7DB989}" destId="{86212431-6DD5-4206-9446-CAF2E862089C}" srcOrd="0" destOrd="0" presId="urn:microsoft.com/office/officeart/2024/3/layout/hArchList1"/>
    <dgm:cxn modelId="{FAC86259-A086-4136-9DC8-E1CA28832641}" type="presOf" srcId="{3E9E0AB5-0690-4BC6-87F0-AE642D055BE1}" destId="{D5FACD27-FEE8-4704-AB29-041254FF8436}" srcOrd="0" destOrd="0" presId="urn:microsoft.com/office/officeart/2024/3/layout/hArchList1"/>
    <dgm:cxn modelId="{70D23D88-7C04-4543-9025-5996F9BF5450}" srcId="{86B9A595-4D54-4C89-9DB2-D91BAE424574}" destId="{A8228154-066F-4661-8C7E-40157A542D14}" srcOrd="2" destOrd="0" parTransId="{BDE703BA-AC43-436F-AF5E-B7476C281C74}" sibTransId="{B12A83B1-86CF-4029-ACE9-B73E1157E01A}"/>
    <dgm:cxn modelId="{18F1C198-8AC6-4137-A3C0-A5CF821CA383}" type="presOf" srcId="{30BBF959-3975-413B-99EB-2FF21369F006}" destId="{B96B771B-521F-4779-A9A0-89C4842C2E17}" srcOrd="0" destOrd="0" presId="urn:microsoft.com/office/officeart/2024/3/layout/hArchList1"/>
    <dgm:cxn modelId="{208D63B8-87E5-43AD-A1FE-ECBD1AE3AA8D}" srcId="{A8228154-066F-4661-8C7E-40157A542D14}" destId="{1ED251C7-9B83-483D-98C6-E0136323C453}" srcOrd="0" destOrd="0" parTransId="{CF5CAFBE-7815-4AC5-A761-67AB39DF921E}" sibTransId="{E256E5EE-B439-43D2-9866-0DA74E50EF03}"/>
    <dgm:cxn modelId="{DDA3B6BA-ED85-41F6-89AA-16F7725C83B7}" type="presOf" srcId="{4D73E290-B09D-42F9-9CF7-D7688AE5AFF1}" destId="{B82C8E78-DEC5-47AF-96C0-34C7D39AE926}" srcOrd="0" destOrd="0" presId="urn:microsoft.com/office/officeart/2024/3/layout/hArchList1"/>
    <dgm:cxn modelId="{321BCBC0-BB0B-42DD-8FB8-36C27FB195C5}" type="presOf" srcId="{1ED251C7-9B83-483D-98C6-E0136323C453}" destId="{82DD7CD2-6790-4DBE-900A-172F430F6B31}" srcOrd="0" destOrd="0" presId="urn:microsoft.com/office/officeart/2024/3/layout/hArchList1"/>
    <dgm:cxn modelId="{BC1F72C1-F4B8-49F9-9FF6-5439D6A47466}" srcId="{86B9A595-4D54-4C89-9DB2-D91BAE424574}" destId="{F0186F34-53E8-4B40-B7F1-5AB3C651BA56}" srcOrd="0" destOrd="0" parTransId="{B292DA15-80CF-48FC-AB2F-6A0FF673024B}" sibTransId="{731B0834-B222-413B-B783-E2122C7DB989}"/>
    <dgm:cxn modelId="{218789C1-5D08-431F-B726-3BD2ED20CDB1}" type="presOf" srcId="{E18D2C6D-2F42-4A02-A782-9F9E671D6265}" destId="{308197CC-7B27-4B25-80A0-371B0E9B181F}" srcOrd="0" destOrd="0" presId="urn:microsoft.com/office/officeart/2024/3/layout/hArchList1"/>
    <dgm:cxn modelId="{7D792BC8-B086-429D-BFCB-06947845A93C}" srcId="{F0186F34-53E8-4B40-B7F1-5AB3C651BA56}" destId="{30BBF959-3975-413B-99EB-2FF21369F006}" srcOrd="0" destOrd="0" parTransId="{C60CAC0B-F98E-408F-8ED3-0CD3FB115632}" sibTransId="{2E775E65-9961-4360-B427-0DB3BDC22210}"/>
    <dgm:cxn modelId="{C69B5BD3-B98C-4E8B-9A24-1F1A7947B86E}" type="presOf" srcId="{86B9A595-4D54-4C89-9DB2-D91BAE424574}" destId="{E63A3E6E-8258-4F8E-A2AD-93E96B9750A7}" srcOrd="0" destOrd="0" presId="urn:microsoft.com/office/officeart/2024/3/layout/hArchList1"/>
    <dgm:cxn modelId="{728A06FA-FB0C-41DB-93C9-6DC2DFCEC3F4}" type="presOf" srcId="{F0186F34-53E8-4B40-B7F1-5AB3C651BA56}" destId="{F584C134-4EA4-4A1D-B6DE-20CBA9348F67}" srcOrd="0" destOrd="0" presId="urn:microsoft.com/office/officeart/2024/3/layout/hArchList1"/>
    <dgm:cxn modelId="{64B64D21-3A6F-4F2B-B97B-A9E044BA7C6F}" type="presParOf" srcId="{E63A3E6E-8258-4F8E-A2AD-93E96B9750A7}" destId="{4A93899A-0239-44C1-BC11-617D99405DC0}" srcOrd="0" destOrd="0" presId="urn:microsoft.com/office/officeart/2024/3/layout/hArchList1"/>
    <dgm:cxn modelId="{032C1558-E565-4300-919A-3FDCCD57F696}" type="presParOf" srcId="{4A93899A-0239-44C1-BC11-617D99405DC0}" destId="{F584C134-4EA4-4A1D-B6DE-20CBA9348F67}" srcOrd="0" destOrd="0" presId="urn:microsoft.com/office/officeart/2024/3/layout/hArchList1"/>
    <dgm:cxn modelId="{3CFD3849-8FAE-42FE-9661-2197DDE78AE4}" type="presParOf" srcId="{4A93899A-0239-44C1-BC11-617D99405DC0}" destId="{B96B771B-521F-4779-A9A0-89C4842C2E17}" srcOrd="1" destOrd="0" presId="urn:microsoft.com/office/officeart/2024/3/layout/hArchList1"/>
    <dgm:cxn modelId="{42BAFE0C-CF6F-4983-BC59-6A2B7EB35A1E}" type="presParOf" srcId="{E63A3E6E-8258-4F8E-A2AD-93E96B9750A7}" destId="{86212431-6DD5-4206-9446-CAF2E862089C}" srcOrd="1" destOrd="0" presId="urn:microsoft.com/office/officeart/2024/3/layout/hArchList1"/>
    <dgm:cxn modelId="{1BDE278A-67D3-47D9-901D-7BC8D4022745}" type="presParOf" srcId="{E63A3E6E-8258-4F8E-A2AD-93E96B9750A7}" destId="{EC569322-BD74-41A9-B5FF-CD8BB31EAE44}" srcOrd="2" destOrd="0" presId="urn:microsoft.com/office/officeart/2024/3/layout/hArchList1"/>
    <dgm:cxn modelId="{3DC44E6E-FA8B-45B6-B648-75DE377ACA2D}" type="presParOf" srcId="{EC569322-BD74-41A9-B5FF-CD8BB31EAE44}" destId="{B82C8E78-DEC5-47AF-96C0-34C7D39AE926}" srcOrd="0" destOrd="0" presId="urn:microsoft.com/office/officeart/2024/3/layout/hArchList1"/>
    <dgm:cxn modelId="{C03E54B9-A592-4106-8CED-C068130307B8}" type="presParOf" srcId="{EC569322-BD74-41A9-B5FF-CD8BB31EAE44}" destId="{D5FACD27-FEE8-4704-AB29-041254FF8436}" srcOrd="1" destOrd="0" presId="urn:microsoft.com/office/officeart/2024/3/layout/hArchList1"/>
    <dgm:cxn modelId="{CAA05CEE-CD4E-4189-8BAB-3D91AB424A74}" type="presParOf" srcId="{E63A3E6E-8258-4F8E-A2AD-93E96B9750A7}" destId="{308197CC-7B27-4B25-80A0-371B0E9B181F}" srcOrd="3" destOrd="0" presId="urn:microsoft.com/office/officeart/2024/3/layout/hArchList1"/>
    <dgm:cxn modelId="{C287527B-61C5-4ABB-B2DA-A418E793BE88}" type="presParOf" srcId="{E63A3E6E-8258-4F8E-A2AD-93E96B9750A7}" destId="{3C4351A1-CB3D-4F72-89DC-B0932E1F85A8}" srcOrd="4" destOrd="0" presId="urn:microsoft.com/office/officeart/2024/3/layout/hArchList1"/>
    <dgm:cxn modelId="{5D82524D-FA2B-4856-9CBD-7CA17CE5B1C1}" type="presParOf" srcId="{3C4351A1-CB3D-4F72-89DC-B0932E1F85A8}" destId="{FF2AAF6E-04B7-40C2-9E4B-FD49D91AF232}" srcOrd="0" destOrd="0" presId="urn:microsoft.com/office/officeart/2024/3/layout/hArchList1"/>
    <dgm:cxn modelId="{02B8449E-BEE5-42DC-81C6-D84060A6A4AE}" type="presParOf" srcId="{3C4351A1-CB3D-4F72-89DC-B0932E1F85A8}" destId="{82DD7CD2-6790-4DBE-900A-172F430F6B3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953AE0-6BD9-46BE-AD2F-46072F3F1582}"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0A9ED7F-5E33-403F-8642-F4A6DC2C09F0}">
      <dgm:prSet/>
      <dgm:spPr/>
      <dgm:t>
        <a:bodyPr/>
        <a:lstStyle/>
        <a:p>
          <a:pPr>
            <a:lnSpc>
              <a:spcPct val="100000"/>
            </a:lnSpc>
            <a:defRPr b="1"/>
          </a:pPr>
          <a:r>
            <a:rPr lang="en-US"/>
            <a:t>Broker Pattern Role</a:t>
          </a:r>
        </a:p>
      </dgm:t>
    </dgm:pt>
    <dgm:pt modelId="{02A49CE3-717B-40EC-AC70-894220CF19B7}" type="parTrans" cxnId="{4CCCD947-9743-438C-B226-9371D91E9BA3}">
      <dgm:prSet/>
      <dgm:spPr/>
      <dgm:t>
        <a:bodyPr/>
        <a:lstStyle/>
        <a:p>
          <a:endParaRPr lang="en-US"/>
        </a:p>
      </dgm:t>
    </dgm:pt>
    <dgm:pt modelId="{A4415D1E-CDCE-4326-A0F1-E74C694D4C10}" type="sibTrans" cxnId="{4CCCD947-9743-438C-B226-9371D91E9BA3}">
      <dgm:prSet/>
      <dgm:spPr/>
      <dgm:t>
        <a:bodyPr/>
        <a:lstStyle/>
        <a:p>
          <a:pPr>
            <a:lnSpc>
              <a:spcPct val="100000"/>
            </a:lnSpc>
            <a:defRPr b="1"/>
          </a:pPr>
          <a:endParaRPr lang="en-US"/>
        </a:p>
      </dgm:t>
    </dgm:pt>
    <dgm:pt modelId="{48E677E0-A170-49C5-825C-2B0CE089E3C1}">
      <dgm:prSet/>
      <dgm:spPr/>
      <dgm:t>
        <a:bodyPr/>
        <a:lstStyle/>
        <a:p>
          <a:pPr>
            <a:lnSpc>
              <a:spcPct val="100000"/>
            </a:lnSpc>
          </a:pPr>
          <a:r>
            <a:rPr lang="en-US"/>
            <a:t>Facilitates decoupled communication between hubs and smart devices for smooth operation.</a:t>
          </a:r>
        </a:p>
      </dgm:t>
    </dgm:pt>
    <dgm:pt modelId="{4B65A4D1-3880-4422-9CE3-7F1B417B8D18}" type="parTrans" cxnId="{4690EEF3-6964-49DA-841C-369BB7D80DE9}">
      <dgm:prSet/>
      <dgm:spPr/>
      <dgm:t>
        <a:bodyPr/>
        <a:lstStyle/>
        <a:p>
          <a:endParaRPr lang="en-US"/>
        </a:p>
      </dgm:t>
    </dgm:pt>
    <dgm:pt modelId="{AFDE5793-2F72-4D6D-923A-767FB8209208}" type="sibTrans" cxnId="{4690EEF3-6964-49DA-841C-369BB7D80DE9}">
      <dgm:prSet/>
      <dgm:spPr/>
      <dgm:t>
        <a:bodyPr/>
        <a:lstStyle/>
        <a:p>
          <a:endParaRPr lang="en-US"/>
        </a:p>
      </dgm:t>
    </dgm:pt>
    <dgm:pt modelId="{60215956-4A9E-42B5-A6B9-ED5D0981B843}">
      <dgm:prSet/>
      <dgm:spPr/>
      <dgm:t>
        <a:bodyPr/>
        <a:lstStyle/>
        <a:p>
          <a:pPr>
            <a:lnSpc>
              <a:spcPct val="100000"/>
            </a:lnSpc>
            <a:defRPr b="1"/>
          </a:pPr>
          <a:r>
            <a:rPr lang="en-US"/>
            <a:t>Client-Server Pattern Use</a:t>
          </a:r>
        </a:p>
      </dgm:t>
    </dgm:pt>
    <dgm:pt modelId="{7428BB5E-A248-47C3-A2FE-66DEF7297BDD}" type="parTrans" cxnId="{785C57F6-6E7D-4320-82CA-285C4444CD23}">
      <dgm:prSet/>
      <dgm:spPr/>
      <dgm:t>
        <a:bodyPr/>
        <a:lstStyle/>
        <a:p>
          <a:endParaRPr lang="en-US"/>
        </a:p>
      </dgm:t>
    </dgm:pt>
    <dgm:pt modelId="{89E3CEE3-F6A6-4E73-9CDF-CA7B0B37DD68}" type="sibTrans" cxnId="{785C57F6-6E7D-4320-82CA-285C4444CD23}">
      <dgm:prSet/>
      <dgm:spPr/>
      <dgm:t>
        <a:bodyPr/>
        <a:lstStyle/>
        <a:p>
          <a:pPr>
            <a:lnSpc>
              <a:spcPct val="100000"/>
            </a:lnSpc>
            <a:defRPr b="1"/>
          </a:pPr>
          <a:endParaRPr lang="en-US"/>
        </a:p>
      </dgm:t>
    </dgm:pt>
    <dgm:pt modelId="{A321FB91-C3E2-4CE2-BCBE-1EB1E66F0709}">
      <dgm:prSet/>
      <dgm:spPr/>
      <dgm:t>
        <a:bodyPr/>
        <a:lstStyle/>
        <a:p>
          <a:pPr>
            <a:lnSpc>
              <a:spcPct val="100000"/>
            </a:lnSpc>
          </a:pPr>
          <a:r>
            <a:rPr lang="en-US"/>
            <a:t>Manages cloud-hosted app requests linking mobile apps and home hubs efficiently.</a:t>
          </a:r>
        </a:p>
      </dgm:t>
    </dgm:pt>
    <dgm:pt modelId="{00C819B1-400E-4B45-B570-1C2470EFEC49}" type="parTrans" cxnId="{7566B512-6812-4F5E-A1A1-720958D749E8}">
      <dgm:prSet/>
      <dgm:spPr/>
      <dgm:t>
        <a:bodyPr/>
        <a:lstStyle/>
        <a:p>
          <a:endParaRPr lang="en-US"/>
        </a:p>
      </dgm:t>
    </dgm:pt>
    <dgm:pt modelId="{59D469DB-3233-4CE1-BF00-C6371009652A}" type="sibTrans" cxnId="{7566B512-6812-4F5E-A1A1-720958D749E8}">
      <dgm:prSet/>
      <dgm:spPr/>
      <dgm:t>
        <a:bodyPr/>
        <a:lstStyle/>
        <a:p>
          <a:endParaRPr lang="en-US"/>
        </a:p>
      </dgm:t>
    </dgm:pt>
    <dgm:pt modelId="{9A9051ED-2A0D-44F5-824E-3D7843C4ED57}">
      <dgm:prSet/>
      <dgm:spPr/>
      <dgm:t>
        <a:bodyPr/>
        <a:lstStyle/>
        <a:p>
          <a:pPr>
            <a:lnSpc>
              <a:spcPct val="100000"/>
            </a:lnSpc>
            <a:defRPr b="1"/>
          </a:pPr>
          <a:r>
            <a:rPr lang="en-US"/>
            <a:t>Benefits of Patterns</a:t>
          </a:r>
        </a:p>
      </dgm:t>
    </dgm:pt>
    <dgm:pt modelId="{11237D69-D84C-470F-8523-6E0F51045B30}" type="parTrans" cxnId="{76D16A81-3922-4996-8B97-578D98F79FFF}">
      <dgm:prSet/>
      <dgm:spPr/>
      <dgm:t>
        <a:bodyPr/>
        <a:lstStyle/>
        <a:p>
          <a:endParaRPr lang="en-US"/>
        </a:p>
      </dgm:t>
    </dgm:pt>
    <dgm:pt modelId="{3C18141D-79E5-4BFB-A5E2-49EB94D02C05}" type="sibTrans" cxnId="{76D16A81-3922-4996-8B97-578D98F79FFF}">
      <dgm:prSet/>
      <dgm:spPr/>
      <dgm:t>
        <a:bodyPr/>
        <a:lstStyle/>
        <a:p>
          <a:endParaRPr lang="en-US"/>
        </a:p>
      </dgm:t>
    </dgm:pt>
    <dgm:pt modelId="{AD12C49F-92BB-4F82-A3D6-919EA3E291F8}">
      <dgm:prSet/>
      <dgm:spPr/>
      <dgm:t>
        <a:bodyPr/>
        <a:lstStyle/>
        <a:p>
          <a:pPr>
            <a:lnSpc>
              <a:spcPct val="100000"/>
            </a:lnSpc>
          </a:pPr>
          <a:r>
            <a:rPr lang="en-US"/>
            <a:t>Architectural patterns improve system scalability, reliability, and maintainability.</a:t>
          </a:r>
        </a:p>
      </dgm:t>
    </dgm:pt>
    <dgm:pt modelId="{5D2296D6-87B4-43B4-94BE-D594F1072649}" type="parTrans" cxnId="{FF9C01F7-BB9E-46D2-9306-C39D5C12F906}">
      <dgm:prSet/>
      <dgm:spPr/>
      <dgm:t>
        <a:bodyPr/>
        <a:lstStyle/>
        <a:p>
          <a:endParaRPr lang="en-US"/>
        </a:p>
      </dgm:t>
    </dgm:pt>
    <dgm:pt modelId="{6E67F07C-B1FE-4521-A5B2-AB4966902CFF}" type="sibTrans" cxnId="{FF9C01F7-BB9E-46D2-9306-C39D5C12F906}">
      <dgm:prSet/>
      <dgm:spPr/>
      <dgm:t>
        <a:bodyPr/>
        <a:lstStyle/>
        <a:p>
          <a:endParaRPr lang="en-US"/>
        </a:p>
      </dgm:t>
    </dgm:pt>
    <dgm:pt modelId="{FE3172EE-8C30-4917-A9CB-AEE3C0ED5F20}" type="pres">
      <dgm:prSet presAssocID="{B3953AE0-6BD9-46BE-AD2F-46072F3F1582}" presName="Name0" presStyleCnt="0">
        <dgm:presLayoutVars>
          <dgm:dir/>
          <dgm:resizeHandles val="exact"/>
        </dgm:presLayoutVars>
      </dgm:prSet>
      <dgm:spPr/>
    </dgm:pt>
    <dgm:pt modelId="{97F2985C-37B3-44BF-9474-AD017E154A5A}" type="pres">
      <dgm:prSet presAssocID="{50A9ED7F-5E33-403F-8642-F4A6DC2C09F0}" presName="compNode" presStyleCnt="0"/>
      <dgm:spPr/>
    </dgm:pt>
    <dgm:pt modelId="{AAA8799D-39F0-49AA-950A-8B6B179A9B9F}" type="pres">
      <dgm:prSet presAssocID="{50A9ED7F-5E33-403F-8642-F4A6DC2C09F0}" presName="pictRect" presStyleLbl="revTx" presStyleIdx="0" presStyleCnt="6">
        <dgm:presLayoutVars>
          <dgm:chMax val="0"/>
          <dgm:bulletEnabled/>
        </dgm:presLayoutVars>
      </dgm:prSet>
      <dgm:spPr/>
    </dgm:pt>
    <dgm:pt modelId="{8337D9E8-0CBF-4A83-8D4E-A81B2B6AE828}" type="pres">
      <dgm:prSet presAssocID="{50A9ED7F-5E33-403F-8642-F4A6DC2C09F0}" presName="textRect" presStyleLbl="revTx" presStyleIdx="1" presStyleCnt="6">
        <dgm:presLayoutVars>
          <dgm:bulletEnabled/>
        </dgm:presLayoutVars>
      </dgm:prSet>
      <dgm:spPr/>
    </dgm:pt>
    <dgm:pt modelId="{33FDD38F-914D-47F3-9788-B180826D0CA5}" type="pres">
      <dgm:prSet presAssocID="{A4415D1E-CDCE-4326-A0F1-E74C694D4C10}" presName="sibTrans" presStyleLbl="sibTrans2D1" presStyleIdx="0" presStyleCnt="0"/>
      <dgm:spPr/>
    </dgm:pt>
    <dgm:pt modelId="{E551953A-B178-485D-9710-E5675DCD0A88}" type="pres">
      <dgm:prSet presAssocID="{60215956-4A9E-42B5-A6B9-ED5D0981B843}" presName="compNode" presStyleCnt="0"/>
      <dgm:spPr/>
    </dgm:pt>
    <dgm:pt modelId="{6DAD4D1A-F59A-40F2-A6DB-CA3B869D4070}" type="pres">
      <dgm:prSet presAssocID="{60215956-4A9E-42B5-A6B9-ED5D0981B843}" presName="pictRect" presStyleLbl="revTx" presStyleIdx="2" presStyleCnt="6">
        <dgm:presLayoutVars>
          <dgm:chMax val="0"/>
          <dgm:bulletEnabled/>
        </dgm:presLayoutVars>
      </dgm:prSet>
      <dgm:spPr/>
    </dgm:pt>
    <dgm:pt modelId="{58CA02EA-6176-4BF4-910A-31EDB005D80F}" type="pres">
      <dgm:prSet presAssocID="{60215956-4A9E-42B5-A6B9-ED5D0981B843}" presName="textRect" presStyleLbl="revTx" presStyleIdx="3" presStyleCnt="6">
        <dgm:presLayoutVars>
          <dgm:bulletEnabled/>
        </dgm:presLayoutVars>
      </dgm:prSet>
      <dgm:spPr/>
    </dgm:pt>
    <dgm:pt modelId="{3288B671-D1BF-4D5E-B199-BD906A16EAAF}" type="pres">
      <dgm:prSet presAssocID="{89E3CEE3-F6A6-4E73-9CDF-CA7B0B37DD68}" presName="sibTrans" presStyleLbl="sibTrans2D1" presStyleIdx="0" presStyleCnt="0"/>
      <dgm:spPr/>
    </dgm:pt>
    <dgm:pt modelId="{71067199-EBB7-462B-8C61-E123E85E46B3}" type="pres">
      <dgm:prSet presAssocID="{9A9051ED-2A0D-44F5-824E-3D7843C4ED57}" presName="compNode" presStyleCnt="0"/>
      <dgm:spPr/>
    </dgm:pt>
    <dgm:pt modelId="{C6F0768D-FCD0-4CFD-9929-682DDD5E4054}" type="pres">
      <dgm:prSet presAssocID="{9A9051ED-2A0D-44F5-824E-3D7843C4ED57}" presName="pictRect" presStyleLbl="revTx" presStyleIdx="4" presStyleCnt="6">
        <dgm:presLayoutVars>
          <dgm:chMax val="0"/>
          <dgm:bulletEnabled/>
        </dgm:presLayoutVars>
      </dgm:prSet>
      <dgm:spPr/>
    </dgm:pt>
    <dgm:pt modelId="{B23B6BE7-AABF-4319-A9BD-A6D916A6E5B6}" type="pres">
      <dgm:prSet presAssocID="{9A9051ED-2A0D-44F5-824E-3D7843C4ED57}" presName="textRect" presStyleLbl="revTx" presStyleIdx="5" presStyleCnt="6">
        <dgm:presLayoutVars>
          <dgm:bulletEnabled/>
        </dgm:presLayoutVars>
      </dgm:prSet>
      <dgm:spPr/>
    </dgm:pt>
  </dgm:ptLst>
  <dgm:cxnLst>
    <dgm:cxn modelId="{6D802B02-6592-4B2F-A910-34F56D7CCD5D}" type="presOf" srcId="{89E3CEE3-F6A6-4E73-9CDF-CA7B0B37DD68}" destId="{3288B671-D1BF-4D5E-B199-BD906A16EAAF}" srcOrd="0" destOrd="0" presId="urn:microsoft.com/office/officeart/2024/3/layout/hArchList1"/>
    <dgm:cxn modelId="{7566B512-6812-4F5E-A1A1-720958D749E8}" srcId="{60215956-4A9E-42B5-A6B9-ED5D0981B843}" destId="{A321FB91-C3E2-4CE2-BCBE-1EB1E66F0709}" srcOrd="0" destOrd="0" parTransId="{00C819B1-400E-4B45-B570-1C2470EFEC49}" sibTransId="{59D469DB-3233-4CE1-BF00-C6371009652A}"/>
    <dgm:cxn modelId="{4CCCD947-9743-438C-B226-9371D91E9BA3}" srcId="{B3953AE0-6BD9-46BE-AD2F-46072F3F1582}" destId="{50A9ED7F-5E33-403F-8642-F4A6DC2C09F0}" srcOrd="0" destOrd="0" parTransId="{02A49CE3-717B-40EC-AC70-894220CF19B7}" sibTransId="{A4415D1E-CDCE-4326-A0F1-E74C694D4C10}"/>
    <dgm:cxn modelId="{494FE46C-1BF3-479B-A84A-A3FB16062BCE}" type="presOf" srcId="{A4415D1E-CDCE-4326-A0F1-E74C694D4C10}" destId="{33FDD38F-914D-47F3-9788-B180826D0CA5}" srcOrd="0" destOrd="0" presId="urn:microsoft.com/office/officeart/2024/3/layout/hArchList1"/>
    <dgm:cxn modelId="{BDA89D73-D6E6-4A98-AE7D-5F376451B251}" type="presOf" srcId="{9A9051ED-2A0D-44F5-824E-3D7843C4ED57}" destId="{C6F0768D-FCD0-4CFD-9929-682DDD5E4054}" srcOrd="0" destOrd="0" presId="urn:microsoft.com/office/officeart/2024/3/layout/hArchList1"/>
    <dgm:cxn modelId="{76D16A81-3922-4996-8B97-578D98F79FFF}" srcId="{B3953AE0-6BD9-46BE-AD2F-46072F3F1582}" destId="{9A9051ED-2A0D-44F5-824E-3D7843C4ED57}" srcOrd="2" destOrd="0" parTransId="{11237D69-D84C-470F-8523-6E0F51045B30}" sibTransId="{3C18141D-79E5-4BFB-A5E2-49EB94D02C05}"/>
    <dgm:cxn modelId="{7CB488AD-B660-42EE-AD74-FC05CB4D648D}" type="presOf" srcId="{A321FB91-C3E2-4CE2-BCBE-1EB1E66F0709}" destId="{58CA02EA-6176-4BF4-910A-31EDB005D80F}" srcOrd="0" destOrd="0" presId="urn:microsoft.com/office/officeart/2024/3/layout/hArchList1"/>
    <dgm:cxn modelId="{33AFECAE-4D44-4C0E-AA6A-E642CAACDF0F}" type="presOf" srcId="{50A9ED7F-5E33-403F-8642-F4A6DC2C09F0}" destId="{AAA8799D-39F0-49AA-950A-8B6B179A9B9F}" srcOrd="0" destOrd="0" presId="urn:microsoft.com/office/officeart/2024/3/layout/hArchList1"/>
    <dgm:cxn modelId="{EE0C6BB0-F11F-4301-8FF1-8BF43352C950}" type="presOf" srcId="{48E677E0-A170-49C5-825C-2B0CE089E3C1}" destId="{8337D9E8-0CBF-4A83-8D4E-A81B2B6AE828}" srcOrd="0" destOrd="0" presId="urn:microsoft.com/office/officeart/2024/3/layout/hArchList1"/>
    <dgm:cxn modelId="{D878D6BB-1CD9-47B9-A44A-6EA0D94AFA21}" type="presOf" srcId="{60215956-4A9E-42B5-A6B9-ED5D0981B843}" destId="{6DAD4D1A-F59A-40F2-A6DB-CA3B869D4070}" srcOrd="0" destOrd="0" presId="urn:microsoft.com/office/officeart/2024/3/layout/hArchList1"/>
    <dgm:cxn modelId="{C3E108CC-F06E-4365-852E-5FA588A0C982}" type="presOf" srcId="{AD12C49F-92BB-4F82-A3D6-919EA3E291F8}" destId="{B23B6BE7-AABF-4319-A9BD-A6D916A6E5B6}" srcOrd="0" destOrd="0" presId="urn:microsoft.com/office/officeart/2024/3/layout/hArchList1"/>
    <dgm:cxn modelId="{88E0E9EE-D9BC-449B-A502-55C7C1480853}" type="presOf" srcId="{B3953AE0-6BD9-46BE-AD2F-46072F3F1582}" destId="{FE3172EE-8C30-4917-A9CB-AEE3C0ED5F20}" srcOrd="0" destOrd="0" presId="urn:microsoft.com/office/officeart/2024/3/layout/hArchList1"/>
    <dgm:cxn modelId="{4690EEF3-6964-49DA-841C-369BB7D80DE9}" srcId="{50A9ED7F-5E33-403F-8642-F4A6DC2C09F0}" destId="{48E677E0-A170-49C5-825C-2B0CE089E3C1}" srcOrd="0" destOrd="0" parTransId="{4B65A4D1-3880-4422-9CE3-7F1B417B8D18}" sibTransId="{AFDE5793-2F72-4D6D-923A-767FB8209208}"/>
    <dgm:cxn modelId="{785C57F6-6E7D-4320-82CA-285C4444CD23}" srcId="{B3953AE0-6BD9-46BE-AD2F-46072F3F1582}" destId="{60215956-4A9E-42B5-A6B9-ED5D0981B843}" srcOrd="1" destOrd="0" parTransId="{7428BB5E-A248-47C3-A2FE-66DEF7297BDD}" sibTransId="{89E3CEE3-F6A6-4E73-9CDF-CA7B0B37DD68}"/>
    <dgm:cxn modelId="{FF9C01F7-BB9E-46D2-9306-C39D5C12F906}" srcId="{9A9051ED-2A0D-44F5-824E-3D7843C4ED57}" destId="{AD12C49F-92BB-4F82-A3D6-919EA3E291F8}" srcOrd="0" destOrd="0" parTransId="{5D2296D6-87B4-43B4-94BE-D594F1072649}" sibTransId="{6E67F07C-B1FE-4521-A5B2-AB4966902CFF}"/>
    <dgm:cxn modelId="{7687163C-4892-4643-BFFE-A35AE3C73BEE}" type="presParOf" srcId="{FE3172EE-8C30-4917-A9CB-AEE3C0ED5F20}" destId="{97F2985C-37B3-44BF-9474-AD017E154A5A}" srcOrd="0" destOrd="0" presId="urn:microsoft.com/office/officeart/2024/3/layout/hArchList1"/>
    <dgm:cxn modelId="{4FAE5179-B3F3-4FA1-AF85-BA928E19309E}" type="presParOf" srcId="{97F2985C-37B3-44BF-9474-AD017E154A5A}" destId="{AAA8799D-39F0-49AA-950A-8B6B179A9B9F}" srcOrd="0" destOrd="0" presId="urn:microsoft.com/office/officeart/2024/3/layout/hArchList1"/>
    <dgm:cxn modelId="{8F0657E1-6524-412D-B91E-FD3E2CC3A674}" type="presParOf" srcId="{97F2985C-37B3-44BF-9474-AD017E154A5A}" destId="{8337D9E8-0CBF-4A83-8D4E-A81B2B6AE828}" srcOrd="1" destOrd="0" presId="urn:microsoft.com/office/officeart/2024/3/layout/hArchList1"/>
    <dgm:cxn modelId="{ED0BF4BF-3D59-4F04-A6FB-FC08F3E73968}" type="presParOf" srcId="{FE3172EE-8C30-4917-A9CB-AEE3C0ED5F20}" destId="{33FDD38F-914D-47F3-9788-B180826D0CA5}" srcOrd="1" destOrd="0" presId="urn:microsoft.com/office/officeart/2024/3/layout/hArchList1"/>
    <dgm:cxn modelId="{8763FEA6-347A-4559-9EFD-954B2E919287}" type="presParOf" srcId="{FE3172EE-8C30-4917-A9CB-AEE3C0ED5F20}" destId="{E551953A-B178-485D-9710-E5675DCD0A88}" srcOrd="2" destOrd="0" presId="urn:microsoft.com/office/officeart/2024/3/layout/hArchList1"/>
    <dgm:cxn modelId="{5367310C-1B10-470F-924D-723938193B28}" type="presParOf" srcId="{E551953A-B178-485D-9710-E5675DCD0A88}" destId="{6DAD4D1A-F59A-40F2-A6DB-CA3B869D4070}" srcOrd="0" destOrd="0" presId="urn:microsoft.com/office/officeart/2024/3/layout/hArchList1"/>
    <dgm:cxn modelId="{45E63204-FCC5-4BB0-A3B4-92A3F5E1D2CA}" type="presParOf" srcId="{E551953A-B178-485D-9710-E5675DCD0A88}" destId="{58CA02EA-6176-4BF4-910A-31EDB005D80F}" srcOrd="1" destOrd="0" presId="urn:microsoft.com/office/officeart/2024/3/layout/hArchList1"/>
    <dgm:cxn modelId="{E2AE4F40-EE42-4FF4-9691-19D72C0351F4}" type="presParOf" srcId="{FE3172EE-8C30-4917-A9CB-AEE3C0ED5F20}" destId="{3288B671-D1BF-4D5E-B199-BD906A16EAAF}" srcOrd="3" destOrd="0" presId="urn:microsoft.com/office/officeart/2024/3/layout/hArchList1"/>
    <dgm:cxn modelId="{84BFA4B5-349C-4123-A4E1-92E811A1DD82}" type="presParOf" srcId="{FE3172EE-8C30-4917-A9CB-AEE3C0ED5F20}" destId="{71067199-EBB7-462B-8C61-E123E85E46B3}" srcOrd="4" destOrd="0" presId="urn:microsoft.com/office/officeart/2024/3/layout/hArchList1"/>
    <dgm:cxn modelId="{AB154700-D55F-4A37-A136-411D723F91A0}" type="presParOf" srcId="{71067199-EBB7-462B-8C61-E123E85E46B3}" destId="{C6F0768D-FCD0-4CFD-9929-682DDD5E4054}" srcOrd="0" destOrd="0" presId="urn:microsoft.com/office/officeart/2024/3/layout/hArchList1"/>
    <dgm:cxn modelId="{A7004BC2-D9B4-4F97-815A-A716C6BC55B5}" type="presParOf" srcId="{71067199-EBB7-462B-8C61-E123E85E46B3}" destId="{B23B6BE7-AABF-4319-A9BD-A6D916A6E5B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84C134-4EA4-4A1D-B6DE-20CBA9348F67}">
      <dsp:nvSpPr>
        <dsp:cNvPr id="0" name=""/>
        <dsp:cNvSpPr/>
      </dsp:nvSpPr>
      <dsp:spPr>
        <a:xfrm>
          <a:off x="0" y="0"/>
          <a:ext cx="3326617" cy="58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Visualize System Deployment</a:t>
          </a:r>
        </a:p>
      </dsp:txBody>
      <dsp:txXfrm>
        <a:off x="0" y="0"/>
        <a:ext cx="3326617" cy="584084"/>
      </dsp:txXfrm>
    </dsp:sp>
    <dsp:sp modelId="{B96B771B-521F-4779-A9A0-89C4842C2E17}">
      <dsp:nvSpPr>
        <dsp:cNvPr id="0" name=""/>
        <dsp:cNvSpPr/>
      </dsp:nvSpPr>
      <dsp:spPr>
        <a:xfrm>
          <a:off x="0" y="584084"/>
          <a:ext cx="3326617" cy="762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Shows how components are deployed across environments including cloud and local hubs.</a:t>
          </a:r>
        </a:p>
      </dsp:txBody>
      <dsp:txXfrm>
        <a:off x="0" y="584084"/>
        <a:ext cx="3326617" cy="762754"/>
      </dsp:txXfrm>
    </dsp:sp>
    <dsp:sp modelId="{B82C8E78-DEC5-47AF-96C0-34C7D39AE926}">
      <dsp:nvSpPr>
        <dsp:cNvPr id="0" name=""/>
        <dsp:cNvSpPr/>
      </dsp:nvSpPr>
      <dsp:spPr>
        <a:xfrm>
          <a:off x="3659279" y="0"/>
          <a:ext cx="3326617" cy="58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Operational Infrastructure Insight</a:t>
          </a:r>
        </a:p>
      </dsp:txBody>
      <dsp:txXfrm>
        <a:off x="3659279" y="0"/>
        <a:ext cx="3326617" cy="584084"/>
      </dsp:txXfrm>
    </dsp:sp>
    <dsp:sp modelId="{D5FACD27-FEE8-4704-AB29-041254FF8436}">
      <dsp:nvSpPr>
        <dsp:cNvPr id="0" name=""/>
        <dsp:cNvSpPr/>
      </dsp:nvSpPr>
      <dsp:spPr>
        <a:xfrm>
          <a:off x="3659279" y="584084"/>
          <a:ext cx="3326617" cy="762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Helps teams understand infrastructure setup for cost estimation and deployment planning.</a:t>
          </a:r>
        </a:p>
      </dsp:txBody>
      <dsp:txXfrm>
        <a:off x="3659279" y="584084"/>
        <a:ext cx="3326617" cy="762754"/>
      </dsp:txXfrm>
    </dsp:sp>
    <dsp:sp modelId="{FF2AAF6E-04B7-40C2-9E4B-FD49D91AF232}">
      <dsp:nvSpPr>
        <dsp:cNvPr id="0" name=""/>
        <dsp:cNvSpPr/>
      </dsp:nvSpPr>
      <dsp:spPr>
        <a:xfrm>
          <a:off x="7318559" y="0"/>
          <a:ext cx="3326617" cy="584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Redundancy and Scalability</a:t>
          </a:r>
        </a:p>
      </dsp:txBody>
      <dsp:txXfrm>
        <a:off x="7318559" y="0"/>
        <a:ext cx="3326617" cy="584084"/>
      </dsp:txXfrm>
    </dsp:sp>
    <dsp:sp modelId="{82DD7CD2-6790-4DBE-900A-172F430F6B31}">
      <dsp:nvSpPr>
        <dsp:cNvPr id="0" name=""/>
        <dsp:cNvSpPr/>
      </dsp:nvSpPr>
      <dsp:spPr>
        <a:xfrm>
          <a:off x="7318559" y="584084"/>
          <a:ext cx="3326617" cy="762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Illustrates built-in redundancy and scalability features supporting system reliability.</a:t>
          </a:r>
        </a:p>
      </dsp:txBody>
      <dsp:txXfrm>
        <a:off x="7318559" y="584084"/>
        <a:ext cx="3326617" cy="7627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8799D-39F0-49AA-950A-8B6B179A9B9F}">
      <dsp:nvSpPr>
        <dsp:cNvPr id="0" name=""/>
        <dsp:cNvSpPr/>
      </dsp:nvSpPr>
      <dsp:spPr>
        <a:xfrm>
          <a:off x="0" y="0"/>
          <a:ext cx="2001321" cy="592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Broker Pattern Role</a:t>
          </a:r>
        </a:p>
      </dsp:txBody>
      <dsp:txXfrm>
        <a:off x="0" y="0"/>
        <a:ext cx="2001321" cy="592389"/>
      </dsp:txXfrm>
    </dsp:sp>
    <dsp:sp modelId="{8337D9E8-0CBF-4A83-8D4E-A81B2B6AE828}">
      <dsp:nvSpPr>
        <dsp:cNvPr id="0" name=""/>
        <dsp:cNvSpPr/>
      </dsp:nvSpPr>
      <dsp:spPr>
        <a:xfrm>
          <a:off x="0" y="592389"/>
          <a:ext cx="2001321" cy="349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Facilitates decoupled communication between hubs and smart devices for smooth operation.</a:t>
          </a:r>
        </a:p>
      </dsp:txBody>
      <dsp:txXfrm>
        <a:off x="0" y="592389"/>
        <a:ext cx="2001321" cy="3494978"/>
      </dsp:txXfrm>
    </dsp:sp>
    <dsp:sp modelId="{6DAD4D1A-F59A-40F2-A6DB-CA3B869D4070}">
      <dsp:nvSpPr>
        <dsp:cNvPr id="0" name=""/>
        <dsp:cNvSpPr/>
      </dsp:nvSpPr>
      <dsp:spPr>
        <a:xfrm>
          <a:off x="2201453" y="0"/>
          <a:ext cx="2001321" cy="592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Client-Server Pattern Use</a:t>
          </a:r>
        </a:p>
      </dsp:txBody>
      <dsp:txXfrm>
        <a:off x="2201453" y="0"/>
        <a:ext cx="2001321" cy="592389"/>
      </dsp:txXfrm>
    </dsp:sp>
    <dsp:sp modelId="{58CA02EA-6176-4BF4-910A-31EDB005D80F}">
      <dsp:nvSpPr>
        <dsp:cNvPr id="0" name=""/>
        <dsp:cNvSpPr/>
      </dsp:nvSpPr>
      <dsp:spPr>
        <a:xfrm>
          <a:off x="2201453" y="592389"/>
          <a:ext cx="2001321" cy="349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Manages cloud-hosted app requests linking mobile apps and home hubs efficiently.</a:t>
          </a:r>
        </a:p>
      </dsp:txBody>
      <dsp:txXfrm>
        <a:off x="2201453" y="592389"/>
        <a:ext cx="2001321" cy="3494978"/>
      </dsp:txXfrm>
    </dsp:sp>
    <dsp:sp modelId="{C6F0768D-FCD0-4CFD-9929-682DDD5E4054}">
      <dsp:nvSpPr>
        <dsp:cNvPr id="0" name=""/>
        <dsp:cNvSpPr/>
      </dsp:nvSpPr>
      <dsp:spPr>
        <a:xfrm>
          <a:off x="4402907" y="0"/>
          <a:ext cx="2001321" cy="592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Benefits of Patterns</a:t>
          </a:r>
        </a:p>
      </dsp:txBody>
      <dsp:txXfrm>
        <a:off x="4402907" y="0"/>
        <a:ext cx="2001321" cy="592389"/>
      </dsp:txXfrm>
    </dsp:sp>
    <dsp:sp modelId="{B23B6BE7-AABF-4319-A9BD-A6D916A6E5B6}">
      <dsp:nvSpPr>
        <dsp:cNvPr id="0" name=""/>
        <dsp:cNvSpPr/>
      </dsp:nvSpPr>
      <dsp:spPr>
        <a:xfrm>
          <a:off x="4402907" y="592389"/>
          <a:ext cx="2001321" cy="349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Architectural patterns improve system scalability, reliability, and maintainability.</a:t>
          </a:r>
        </a:p>
      </dsp:txBody>
      <dsp:txXfrm>
        <a:off x="4402907" y="592389"/>
        <a:ext cx="2001321" cy="3494978"/>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11/2/2025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921948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The primary goals of the Smart Home System include automating daily household tasks, ensuring secure and reliable communication between devices, and providing a user-friendly interface for control and monitoring. The system aims to enhance convenience by allowing users to set instructions that respond to sensor events, thereby streamlining operations such as lighting adjustments, weather control, and gate management. Security is a key focus, with mechanisms in place to authenticate users and prevent unauthorized access. The system also emphasizes high availability and interoperability, ensuring that it can function seamlessly with existing smart home technologies and protocols.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114002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The Utility Tree diagram illustrates the top three architectural quality attributes—Security, Availability, and Interoperability—and their respective refinements. It serves as a visual representation of how these attributes are prioritized and addressed within the Smart Home System. Each branch of the tree details specific scenarios and tactics employed to meet the quality goals, providing a structured overview of the system’s architectural considerations.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73155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To achieve the top architectural quality attributes—Security, Availability, and Interoperability—the Smart Home System employs several tactics. For Security, the system uses Single Sign-On (SSO) and OAuth integration for user authentication, along with role-based access controls. Communication between devices is encrypted, and new devices are securely paired using unique identifiers. For Availability, the hub monitors system health using ping/echo messages and triggers fault recovery mechanisms when failures are detected. Redundant systems and scalable cloud services ensure continuous operation. Interoperability is achieved by supporting standard communication protocols like ZigBee, Bluetooth LE, and Z-Wave, allowing seamless integration with popular smart home devices.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771624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Tactics to Achieve ASRs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206208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The Component Connector Diagram showcases the interactions between major components of the Smart Home System. It includes the mobile application, smart hub, IoT sensors, smart speakers, and the broker. The diagram highlights how instructions are transmitted via cloud services or local Wi-Fi, and how devices communicate using low-energy protocols. This visual aids in understanding the system’s architecture and the flow of data between components.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695204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The Deployment Diagram provides a visual representation of how the Smart Home System’s components are deployed across different environments. It includes cloud-hosted services, local hubs, and connected devices. This diagram helps operational teams understand the infrastructure setup, estimate costs, and plan deployments effectively. It also illustrates the redundancy and scalability features integrated into the system.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3407684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The Smart Home System employs two primary architectural patterns: the Broker Pattern and the Client-Server Pattern. The Broker Pattern facilitates decoupled communication between hubs and smart devices, allowing for cohesive operation and easy integration of new devices. The Client-Server Pattern is used in the cloud-hosted application, which handles requests from multiple users and bridges communication between mobile apps and home hubs. These patterns enhance scalability, reliability, and maintainability of the system.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1732378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https://office.com?path=7cb16f1f-6594-4796-a23a-6337ac2db911
Key learnings from the Smart Home System architecture include the importance of high availability, especially in critical systems like gas management. Ensuring that systems default to safe modes or recover quickly from failures is essential. The system must also be future-proofed to accommodate evolving smart home technologies. Visual tools like component diagrams, deployment views, and sequence diagrams aid in planning and development, particularly in Agile environments. These tools help developers and operational teams understand system expectations, estimate costs, and streamline implementation strategies.
</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25299550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a:normAutofit/>
          </a:bodyPr>
          <a:lstStyle>
            <a:lvl1pPr>
              <a:defRPr sz="6200"/>
            </a:lvl1pPr>
          </a:lstStyle>
          <a:p>
            <a:r>
              <a:rPr lang="en-US"/>
              <a:t>Click to edit Master title style</a:t>
            </a:r>
          </a:p>
        </p:txBody>
      </p:sp>
      <p:sp>
        <p:nvSpPr>
          <p:cNvPr id="13" name="Subtitle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Date Placeholder 3">
            <a:extLst>
              <a:ext uri="{FF2B5EF4-FFF2-40B4-BE49-F238E27FC236}">
                <a16:creationId xmlns:a16="http://schemas.microsoft.com/office/drawing/2014/main" id="{702BB055-E356-D9DC-D968-F4B6E02320D2}"/>
              </a:ext>
            </a:extLst>
          </p:cNvPr>
          <p:cNvSpPr>
            <a:spLocks noGrp="1"/>
          </p:cNvSpPr>
          <p:nvPr>
            <p:ph type="dt" sz="half" idx="14"/>
          </p:nvPr>
        </p:nvSpPr>
        <p:spPr/>
        <p:txBody>
          <a:bodyPr/>
          <a:lstStyle/>
          <a:p>
            <a:fld id="{CA325475-EA0F-49B2-A586-CC0D8CB91667}" type="datetime1">
              <a:rPr lang="en-US" smtClean="0"/>
              <a:pPr/>
              <a:t>11/2/2025</a:t>
            </a:fld>
            <a:endParaRPr lang="en-US" dirty="0"/>
          </a:p>
        </p:txBody>
      </p:sp>
      <p:sp>
        <p:nvSpPr>
          <p:cNvPr id="6" name="Footer Placeholder 5">
            <a:extLst>
              <a:ext uri="{FF2B5EF4-FFF2-40B4-BE49-F238E27FC236}">
                <a16:creationId xmlns:a16="http://schemas.microsoft.com/office/drawing/2014/main" id="{A3C1376F-CBCD-234F-6AE2-E91A91B3617E}"/>
              </a:ext>
            </a:extLst>
          </p:cNvPr>
          <p:cNvSpPr>
            <a:spLocks noGrp="1"/>
          </p:cNvSpPr>
          <p:nvPr>
            <p:ph type="ftr" sz="quarter" idx="15"/>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11/2/2025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7BCC1026-8D94-2081-4610-6490A031C2BE}"/>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6" name="Footer Placeholder 5">
            <a:extLst>
              <a:ext uri="{FF2B5EF4-FFF2-40B4-BE49-F238E27FC236}">
                <a16:creationId xmlns:a16="http://schemas.microsoft.com/office/drawing/2014/main" id="{945E5425-2E7D-668E-4A6F-75CB0F0C63B2}"/>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9E7CE726-49FC-55E2-26A1-1FE3520D3F1B}"/>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7" name="Footer Placeholder 6">
            <a:extLst>
              <a:ext uri="{FF2B5EF4-FFF2-40B4-BE49-F238E27FC236}">
                <a16:creationId xmlns:a16="http://schemas.microsoft.com/office/drawing/2014/main" id="{23D8F946-DB8C-1435-46BE-F233D3CF260C}"/>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anchor="b"/>
          <a:lstStyle/>
          <a:p>
            <a:r>
              <a:rPr lang="en-US" dirty="0"/>
              <a:t>Click to edit Master title style</a:t>
            </a:r>
          </a:p>
        </p:txBody>
      </p:sp>
      <p:sp>
        <p:nvSpPr>
          <p:cNvPr id="12" name="Subtitle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a:r>
              <a:rPr lang="en-US" dirty="0"/>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ate Placeholder 8">
            <a:extLst>
              <a:ext uri="{FF2B5EF4-FFF2-40B4-BE49-F238E27FC236}">
                <a16:creationId xmlns:a16="http://schemas.microsoft.com/office/drawing/2014/main" id="{CF5C3FE8-0DDB-A431-4FEB-7A68056C262F}"/>
              </a:ext>
            </a:extLst>
          </p:cNvPr>
          <p:cNvSpPr>
            <a:spLocks noGrp="1"/>
          </p:cNvSpPr>
          <p:nvPr>
            <p:ph type="dt" sz="half" idx="18"/>
          </p:nvPr>
        </p:nvSpPr>
        <p:spPr/>
        <p:txBody>
          <a:bodyPr/>
          <a:lstStyle/>
          <a:p>
            <a:fld id="{CA325475-EA0F-49B2-A586-CC0D8CB91667}" type="datetime1">
              <a:rPr lang="en-US" smtClean="0"/>
              <a:pPr/>
              <a:t>11/2/2025</a:t>
            </a:fld>
            <a:endParaRPr lang="en-US" dirty="0"/>
          </a:p>
        </p:txBody>
      </p:sp>
      <p:sp>
        <p:nvSpPr>
          <p:cNvPr id="10" name="Footer Placeholder 9">
            <a:extLst>
              <a:ext uri="{FF2B5EF4-FFF2-40B4-BE49-F238E27FC236}">
                <a16:creationId xmlns:a16="http://schemas.microsoft.com/office/drawing/2014/main" id="{274D131E-594B-1FB1-8E49-0B78695F0A87}"/>
              </a:ext>
            </a:extLst>
          </p:cNvPr>
          <p:cNvSpPr>
            <a:spLocks noGrp="1"/>
          </p:cNvSpPr>
          <p:nvPr>
            <p:ph type="ftr" sz="quarter" idx="19"/>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a:normAutofit/>
          </a:bodyPr>
          <a:lstStyle>
            <a:lvl1pPr>
              <a:defRPr sz="7000"/>
            </a:lvl1pPr>
          </a:lstStyle>
          <a:p>
            <a:r>
              <a:rPr lang="en-US"/>
              <a:t>Click to edit Master title style</a:t>
            </a:r>
          </a:p>
        </p:txBody>
      </p:sp>
      <p:sp>
        <p:nvSpPr>
          <p:cNvPr id="12" name="Subtitle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11/2/2025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anchor="b">
            <a:normAutofit/>
          </a:bodyPr>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11/2/2025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11/2/2025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11/2/2025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Title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anchor="b">
            <a:normAutofit/>
          </a:bodyPr>
          <a:lstStyle>
            <a:lvl1pPr>
              <a:defRPr sz="6200"/>
            </a:lvl1pPr>
          </a:lstStyle>
          <a:p>
            <a:r>
              <a:rPr lang="en-US"/>
              <a:t>Click to edit Master title style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11/2/2025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anchor="b">
            <a:normAutofit/>
          </a:bodyPr>
          <a:lstStyle>
            <a:lvl1pPr>
              <a:defRPr sz="4000"/>
            </a:lvl1pPr>
          </a:lstStyle>
          <a:p>
            <a:r>
              <a:rPr lang="en-US" dirty="0"/>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3955E63F-831B-1E75-A3D2-7916C30870FC}"/>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6" name="Footer Placeholder 5">
            <a:extLst>
              <a:ext uri="{FF2B5EF4-FFF2-40B4-BE49-F238E27FC236}">
                <a16:creationId xmlns:a16="http://schemas.microsoft.com/office/drawing/2014/main" id="{AA36642A-4BF1-3042-3D1E-3F9A6461A021}"/>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anchor="b" anchorCtr="0">
            <a:normAutofit/>
          </a:bodyPr>
          <a:lstStyle>
            <a:lvl1pPr algn="ct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11/2/2025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11/2/2025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11/2/2025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11/2/2025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11/2/2025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253C0EE3-FE78-FEE2-1C03-69EF2436C5E6}"/>
              </a:ext>
            </a:extLst>
          </p:cNvPr>
          <p:cNvSpPr>
            <a:spLocks noGrp="1"/>
          </p:cNvSpPr>
          <p:nvPr>
            <p:ph type="dt" sz="half" idx="14"/>
          </p:nvPr>
        </p:nvSpPr>
        <p:spPr/>
        <p:txBody>
          <a:bodyPr/>
          <a:lstStyle/>
          <a:p>
            <a:fld id="{CA325475-EA0F-49B2-A586-CC0D8CB91667}" type="datetime1">
              <a:rPr lang="en-US" smtClean="0"/>
              <a:pPr/>
              <a:t>11/2/2025</a:t>
            </a:fld>
            <a:endParaRPr lang="en-US" dirty="0"/>
          </a:p>
        </p:txBody>
      </p:sp>
      <p:sp>
        <p:nvSpPr>
          <p:cNvPr id="9" name="Footer Placeholder 8">
            <a:extLst>
              <a:ext uri="{FF2B5EF4-FFF2-40B4-BE49-F238E27FC236}">
                <a16:creationId xmlns:a16="http://schemas.microsoft.com/office/drawing/2014/main" id="{0681E699-A9DC-6ADB-B033-12F132D21DFE}"/>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anchor="b">
            <a:normAutofit/>
          </a:bodyPr>
          <a:lstStyle>
            <a:lvl1pPr>
              <a:defRPr sz="3200"/>
            </a:lvl1pPr>
          </a:lstStyle>
          <a:p>
            <a:r>
              <a:rPr lang="en-US" dirty="0"/>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7C1037C4-D7CB-E822-E47E-57790F243FD1}"/>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5" name="Footer Placeholder 4">
            <a:extLst>
              <a:ext uri="{FF2B5EF4-FFF2-40B4-BE49-F238E27FC236}">
                <a16:creationId xmlns:a16="http://schemas.microsoft.com/office/drawing/2014/main" id="{8135CE1D-F6D3-A8A3-782F-E5E88CCE35F5}"/>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dirty="0"/>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93B77D22-A82C-44F7-6BC2-B414E8E7914D}"/>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4" name="Footer Placeholder 3">
            <a:extLst>
              <a:ext uri="{FF2B5EF4-FFF2-40B4-BE49-F238E27FC236}">
                <a16:creationId xmlns:a16="http://schemas.microsoft.com/office/drawing/2014/main" id="{42ED6638-8710-3EEF-9CFC-179C59D52F51}"/>
              </a:ext>
            </a:extLst>
          </p:cNvPr>
          <p:cNvSpPr>
            <a:spLocks noGrp="1"/>
          </p:cNvSpPr>
          <p:nvPr>
            <p:ph type="ftr" sz="quarter" idx="20"/>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10C5241C-A695-5757-744E-AB1824BCED7B}"/>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6" name="Footer Placeholder 5">
            <a:extLst>
              <a:ext uri="{FF2B5EF4-FFF2-40B4-BE49-F238E27FC236}">
                <a16:creationId xmlns:a16="http://schemas.microsoft.com/office/drawing/2014/main" id="{B486C41F-1C9D-B14A-9954-F5ED7CA31A5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lvl1pPr>
              <a:defRPr sz="3600"/>
            </a:lvl1pPr>
          </a:lstStyle>
          <a:p>
            <a:r>
              <a:rPr lang="en-US" dirty="0"/>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83862476-C6C3-75C3-F440-74F469A967A1}"/>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3" name="Footer Placeholder 2">
            <a:extLst>
              <a:ext uri="{FF2B5EF4-FFF2-40B4-BE49-F238E27FC236}">
                <a16:creationId xmlns:a16="http://schemas.microsoft.com/office/drawing/2014/main" id="{E7180EED-4901-3AAF-D90A-6939CE7EFC54}"/>
              </a:ext>
            </a:extLst>
          </p:cNvPr>
          <p:cNvSpPr>
            <a:spLocks noGrp="1"/>
          </p:cNvSpPr>
          <p:nvPr>
            <p:ph type="ftr" sz="quarter" idx="20"/>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dirty="0"/>
              <a:t>Click to edit Master title style</a:t>
            </a:r>
          </a:p>
        </p:txBody>
      </p:sp>
      <p:sp>
        <p:nvSpPr>
          <p:cNvPr id="12" name="Picture Placeholder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a:lstStyle/>
          <a:p>
            <a:fld id="{CA325475-EA0F-49B2-A586-CC0D8CB91667}" type="datetime1">
              <a:rPr lang="en-US" smtClean="0"/>
              <a:pPr/>
              <a:t>11/2/2025</a:t>
            </a:fld>
            <a:endParaRPr lang="en-US" dirty="0"/>
          </a:p>
        </p:txBody>
      </p:sp>
      <p:sp>
        <p:nvSpPr>
          <p:cNvPr id="7" name="Footer Placeholder 6">
            <a:extLst>
              <a:ext uri="{FF2B5EF4-FFF2-40B4-BE49-F238E27FC236}">
                <a16:creationId xmlns:a16="http://schemas.microsoft.com/office/drawing/2014/main" id="{7EADEDE4-1283-DC77-8774-CE66A7FCFC57}"/>
              </a:ext>
            </a:extLst>
          </p:cNvPr>
          <p:cNvSpPr>
            <a:spLocks noGrp="1"/>
          </p:cNvSpPr>
          <p:nvPr>
            <p:ph type="ftr" sz="quarter" idx="20"/>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5">
            <a:extLst>
              <a:ext uri="{FF2B5EF4-FFF2-40B4-BE49-F238E27FC236}">
                <a16:creationId xmlns:a16="http://schemas.microsoft.com/office/drawing/2014/main" id="{66BCA70D-4E1A-9515-CF3A-C9ADDAEA5180}"/>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7" name="Footer Placeholder 6">
            <a:extLst>
              <a:ext uri="{FF2B5EF4-FFF2-40B4-BE49-F238E27FC236}">
                <a16:creationId xmlns:a16="http://schemas.microsoft.com/office/drawing/2014/main" id="{6CE00F06-2901-FA79-7DB4-8439628B19A8}"/>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anchor="ct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anchor="b"/>
          <a:lstStyle>
            <a:lvl1pPr>
              <a:defRPr sz="3200"/>
            </a:lvl1pPr>
          </a:lstStyle>
          <a:p>
            <a:r>
              <a:rPr lang="en-US" dirty="0"/>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A73ECB8-1DC2-18B7-FB61-C5B409B1D3AB}"/>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5" name="Footer Placeholder 4">
            <a:extLst>
              <a:ext uri="{FF2B5EF4-FFF2-40B4-BE49-F238E27FC236}">
                <a16:creationId xmlns:a16="http://schemas.microsoft.com/office/drawing/2014/main" id="{EF837014-2CDD-1654-954A-3CFB437B0F79}"/>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anchor="b"/>
          <a:lstStyle>
            <a:lvl1pPr>
              <a:defRPr sz="3200"/>
            </a:lvl1pPr>
          </a:lstStyle>
          <a:p>
            <a:r>
              <a:rPr lang="en-US" dirty="0"/>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CA039A1F-C7CE-E7D6-1B4E-1ACBB57F36D3}"/>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5" name="Footer Placeholder 4">
            <a:extLst>
              <a:ext uri="{FF2B5EF4-FFF2-40B4-BE49-F238E27FC236}">
                <a16:creationId xmlns:a16="http://schemas.microsoft.com/office/drawing/2014/main" id="{C0016FB1-CC33-21DB-78A1-2A47153DDE34}"/>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anchor="ctr" anchorCtr="0">
            <a:normAutofit/>
          </a:bodyPr>
          <a:lstStyle>
            <a:lvl1pPr>
              <a:defRPr sz="4000"/>
            </a:lvl1pPr>
          </a:lstStyle>
          <a:p>
            <a:r>
              <a:rPr lang="en-US" dirty="0"/>
              <a:t>Click to edit Master title style</a:t>
            </a:r>
          </a:p>
        </p:txBody>
      </p:sp>
      <p:sp>
        <p:nvSpPr>
          <p:cNvPr id="10" name="Picture Placeholder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C97157FB-CF65-571C-117F-F8FAD8D9FF52}"/>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7" name="Footer Placeholder 6">
            <a:extLst>
              <a:ext uri="{FF2B5EF4-FFF2-40B4-BE49-F238E27FC236}">
                <a16:creationId xmlns:a16="http://schemas.microsoft.com/office/drawing/2014/main" id="{F57136A7-5DB5-FAF4-1437-4CDA5E545739}"/>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11" name="Rectangle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lvl1pPr>
              <a:defRPr sz="4000"/>
            </a:lvl1pPr>
          </a:lstStyle>
          <a:p>
            <a:r>
              <a:rPr lang="en-US" dirty="0"/>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BA4BF609-8734-8C2B-E441-E7DBAE6E3BDA}"/>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5" name="Footer Placeholder 4">
            <a:extLst>
              <a:ext uri="{FF2B5EF4-FFF2-40B4-BE49-F238E27FC236}">
                <a16:creationId xmlns:a16="http://schemas.microsoft.com/office/drawing/2014/main" id="{F7450EF1-CAAF-B39A-ED1F-4F967B0786C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A1E56C7E-4D47-A5C6-F745-1B24CC384826}"/>
              </a:ext>
            </a:extLst>
          </p:cNvPr>
          <p:cNvSpPr>
            <a:spLocks noGrp="1"/>
          </p:cNvSpPr>
          <p:nvPr>
            <p:ph type="dt" sz="half" idx="19"/>
          </p:nvPr>
        </p:nvSpPr>
        <p:spPr/>
        <p:txBody>
          <a:bodyPr/>
          <a:lstStyle/>
          <a:p>
            <a:fld id="{CA325475-EA0F-49B2-A586-CC0D8CB91667}" type="datetime1">
              <a:rPr lang="en-US" smtClean="0"/>
              <a:pPr/>
              <a:t>11/2/2025</a:t>
            </a:fld>
            <a:endParaRPr lang="en-US" dirty="0"/>
          </a:p>
        </p:txBody>
      </p:sp>
      <p:sp>
        <p:nvSpPr>
          <p:cNvPr id="7" name="Footer Placeholder 6">
            <a:extLst>
              <a:ext uri="{FF2B5EF4-FFF2-40B4-BE49-F238E27FC236}">
                <a16:creationId xmlns:a16="http://schemas.microsoft.com/office/drawing/2014/main" id="{ECE34178-1A83-36BE-0EBF-390C6CB30C87}"/>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a:normAutofit/>
          </a:bodyPr>
          <a:lstStyle>
            <a:lvl1pPr>
              <a:lnSpc>
                <a:spcPct val="110000"/>
              </a:lnSpc>
              <a:defRPr sz="18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anchor="b">
            <a:normAutofit/>
          </a:bodyPr>
          <a:lstStyle>
            <a:lvl1pPr marL="0" indent="0">
              <a:lnSpc>
                <a:spcPct val="90000"/>
              </a:lnSpc>
              <a:buNone/>
              <a:defRPr sz="19300" b="1" baseline="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11/2/2025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11/2/2025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11/2/2025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a:lstStyle/>
          <a:p>
            <a:r>
              <a:rPr lang="en-US" dirty="0"/>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11/2/2025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a:lstStyle/>
          <a:p>
            <a:r>
              <a:rPr lang="en-US" dirty="0"/>
              <a:t>Click to edit Master title style</a:t>
            </a:r>
          </a:p>
        </p:txBody>
      </p:sp>
      <p:sp>
        <p:nvSpPr>
          <p:cNvPr id="11" name="Content Placeholder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11/2/2025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a:lstStyle/>
          <a:p>
            <a:r>
              <a:rPr lang="en-US" dirty="0"/>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11/2/2025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11/2/2025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11/2/2025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11/2/2025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a:lstStyle>
            <a:lvl1pPr>
              <a:defRPr/>
            </a:lvl1pPr>
          </a:lstStyle>
          <a:p>
            <a:r>
              <a:rPr lang="en-US" dirty="0"/>
              <a:t>Click to edit Master title style</a:t>
            </a:r>
          </a:p>
        </p:txBody>
      </p:sp>
      <p:sp>
        <p:nvSpPr>
          <p:cNvPr id="4" name="Content Placeholder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11/2/2025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a:lstStyle>
            <a:lvl1pPr>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Content Placeholder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11/2/2025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11/2/2025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11/2/2025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11/2/2025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11/2/2025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anchor="ctr" anchorCtr="0">
            <a:normAutofit/>
          </a:bodyPr>
          <a:lstStyle>
            <a:lvl1pPr>
              <a:defRPr sz="48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1E6060-C53E-4F28-8D83-0C4FB26C4A3F}" type="datetime1">
              <a:rPr lang="en-US" smtClean="0"/>
              <a:t>11/2/2025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anchor="b" anchorCtr="0">
            <a:no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3D1E3E-5DD4-4BAD-A138-1254BF94C224}" type="datetime1">
              <a:rPr lang="en-US" smtClean="0"/>
              <a:t>11/2/2025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fld id="{CA325475-EA0F-49B2-A586-CC0D8CB91667}" type="datetime1">
              <a:rPr lang="en-US" smtClean="0"/>
              <a:pPr/>
              <a:t>11/2/2025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E2197-73C2-54FA-026D-16AC37C2BE21}"/>
              </a:ext>
            </a:extLst>
          </p:cNvPr>
          <p:cNvSpPr>
            <a:spLocks noGrp="1"/>
          </p:cNvSpPr>
          <p:nvPr>
            <p:ph type="title"/>
          </p:nvPr>
        </p:nvSpPr>
        <p:spPr>
          <a:xfrm>
            <a:off x="793236" y="837735"/>
            <a:ext cx="10643616" cy="3346704"/>
          </a:xfrm>
        </p:spPr>
        <p:txBody>
          <a:bodyPr anchor="t">
            <a:normAutofit fontScale="90000"/>
          </a:bodyPr>
          <a:lstStyle/>
          <a:p>
            <a:r>
              <a:rPr lang="en-US" dirty="0"/>
              <a:t>Smart Home System Architecture</a:t>
            </a:r>
            <a:br>
              <a:rPr lang="en-US" dirty="0"/>
            </a:br>
            <a:br>
              <a:rPr lang="en-US" dirty="0"/>
            </a:br>
            <a:r>
              <a:rPr lang="en-US" sz="2800" dirty="0"/>
              <a:t>A S Puneeth Kumar</a:t>
            </a:r>
            <a:br>
              <a:rPr lang="en-US" sz="2800" dirty="0"/>
            </a:br>
            <a:r>
              <a:rPr lang="en-US" sz="2800" dirty="0"/>
              <a:t>2024mt13102</a:t>
            </a:r>
            <a:br>
              <a:rPr lang="en-US" dirty="0"/>
            </a:br>
            <a:br>
              <a:rPr lang="en-US" dirty="0"/>
            </a:br>
            <a:endParaRPr lang="en-US" dirty="0"/>
          </a:p>
        </p:txBody>
      </p:sp>
      <p:sp>
        <p:nvSpPr>
          <p:cNvPr id="3" name="Subtitle 2">
            <a:extLst>
              <a:ext uri="{FF2B5EF4-FFF2-40B4-BE49-F238E27FC236}">
                <a16:creationId xmlns:a16="http://schemas.microsoft.com/office/drawing/2014/main" id="{F99F8FB7-0002-7846-6473-D215101A22C9}"/>
              </a:ext>
            </a:extLst>
          </p:cNvPr>
          <p:cNvSpPr>
            <a:spLocks noGrp="1"/>
          </p:cNvSpPr>
          <p:nvPr>
            <p:ph type="subTitle" idx="1"/>
          </p:nvPr>
        </p:nvSpPr>
        <p:spPr>
          <a:xfrm>
            <a:off x="795528" y="4824760"/>
            <a:ext cx="10641324" cy="1194128"/>
          </a:xfrm>
        </p:spPr>
        <p:txBody>
          <a:bodyPr anchor="b">
            <a:normAutofit/>
          </a:bodyPr>
          <a:lstStyle/>
          <a:p>
            <a:r>
              <a:rPr lang="en-US"/>
              <a:t>Understanding the design and components of intelligent residences</a:t>
            </a:r>
          </a:p>
        </p:txBody>
      </p:sp>
    </p:spTree>
    <p:extLst>
      <p:ext uri="{BB962C8B-B14F-4D97-AF65-F5344CB8AC3E}">
        <p14:creationId xmlns:p14="http://schemas.microsoft.com/office/powerpoint/2010/main" val="289421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68F85-5307-FF33-D54D-740454758A3A}"/>
              </a:ext>
            </a:extLst>
          </p:cNvPr>
          <p:cNvSpPr>
            <a:spLocks noGrp="1"/>
          </p:cNvSpPr>
          <p:nvPr>
            <p:ph type="title"/>
          </p:nvPr>
        </p:nvSpPr>
        <p:spPr>
          <a:xfrm>
            <a:off x="832104" y="832104"/>
            <a:ext cx="3493008" cy="4940661"/>
          </a:xfrm>
        </p:spPr>
        <p:txBody>
          <a:bodyPr anchor="t">
            <a:normAutofit/>
          </a:bodyPr>
          <a:lstStyle/>
          <a:p>
            <a:r>
              <a:rPr lang="en-US"/>
              <a:t>Goals of the Smart Home System</a:t>
            </a:r>
          </a:p>
        </p:txBody>
      </p:sp>
      <p:sp>
        <p:nvSpPr>
          <p:cNvPr id="3" name="Content Placeholder 2">
            <a:extLst>
              <a:ext uri="{FF2B5EF4-FFF2-40B4-BE49-F238E27FC236}">
                <a16:creationId xmlns:a16="http://schemas.microsoft.com/office/drawing/2014/main" id="{5EC276F1-81AD-CCC5-68CF-23E7960F74F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0" y="832104"/>
            <a:ext cx="6775704" cy="4937760"/>
          </a:xfrm>
        </p:spPr>
        <p:txBody>
          <a:bodyPr>
            <a:normAutofit/>
          </a:bodyPr>
          <a:lstStyle/>
          <a:p>
            <a:pPr marL="0" indent="0">
              <a:spcBef>
                <a:spcPts val="2500"/>
              </a:spcBef>
              <a:buFont typeface="Arial" panose="020B0604020202020204" pitchFamily="34" charset="0"/>
              <a:buNone/>
            </a:pPr>
            <a:r>
              <a:rPr lang="en-US" b="1"/>
              <a:t>Automation of Tasks</a:t>
            </a:r>
          </a:p>
          <a:p>
            <a:pPr marL="0" lvl="1" indent="0">
              <a:buFont typeface="Arial" panose="020B0604020202020204" pitchFamily="34" charset="0"/>
              <a:buNone/>
            </a:pPr>
            <a:r>
              <a:t>The system automates daily household tasks like lighting and gate management for convenience.</a:t>
            </a:r>
            <a:endParaRPr lang="en-US"/>
          </a:p>
          <a:p>
            <a:pPr marL="0" indent="0">
              <a:spcBef>
                <a:spcPts val="2500"/>
              </a:spcBef>
              <a:buFont typeface="Arial" panose="020B0604020202020204" pitchFamily="34" charset="0"/>
              <a:buNone/>
            </a:pPr>
            <a:r>
              <a:rPr lang="en-US" b="1"/>
              <a:t>Secure Communication</a:t>
            </a:r>
          </a:p>
          <a:p>
            <a:pPr marL="0" lvl="1" indent="0">
              <a:buFont typeface="Arial" panose="020B0604020202020204" pitchFamily="34" charset="0"/>
              <a:buNone/>
            </a:pPr>
            <a:r>
              <a:t>Ensures secure, reliable communication between devices with user authentication to prevent unauthorized access.</a:t>
            </a:r>
            <a:endParaRPr lang="en-US"/>
          </a:p>
          <a:p>
            <a:pPr marL="0" indent="0">
              <a:spcBef>
                <a:spcPts val="2500"/>
              </a:spcBef>
              <a:buFont typeface="Arial" panose="020B0604020202020204" pitchFamily="34" charset="0"/>
              <a:buNone/>
            </a:pPr>
            <a:r>
              <a:rPr lang="en-US" b="1"/>
              <a:t>User-Friendly Interface</a:t>
            </a:r>
          </a:p>
          <a:p>
            <a:pPr marL="0" lvl="1" indent="0">
              <a:buFont typeface="Arial" panose="020B0604020202020204" pitchFamily="34" charset="0"/>
              <a:buNone/>
            </a:pPr>
            <a:r>
              <a:t>Provides an easy-to-use interface for control and monitoring of home systems.</a:t>
            </a:r>
            <a:endParaRPr lang="en-US"/>
          </a:p>
          <a:p>
            <a:pPr marL="0" indent="0">
              <a:spcBef>
                <a:spcPts val="2500"/>
              </a:spcBef>
              <a:buFont typeface="Arial" panose="020B0604020202020204" pitchFamily="34" charset="0"/>
              <a:buNone/>
            </a:pPr>
            <a:r>
              <a:rPr lang="en-US" b="1"/>
              <a:t>High Availability and Interoperability</a:t>
            </a:r>
          </a:p>
          <a:p>
            <a:pPr marL="0" lvl="1" indent="0">
              <a:buFont typeface="Arial" panose="020B0604020202020204" pitchFamily="34" charset="0"/>
              <a:buNone/>
            </a:pPr>
            <a:r>
              <a:t>Supports seamless operation with existing smart home technologies and protocols.</a:t>
            </a:r>
            <a:endParaRPr lang="en-US"/>
          </a:p>
        </p:txBody>
      </p:sp>
    </p:spTree>
    <p:extLst>
      <p:ext uri="{BB962C8B-B14F-4D97-AF65-F5344CB8AC3E}">
        <p14:creationId xmlns:p14="http://schemas.microsoft.com/office/powerpoint/2010/main" val="12763349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DF5FA-E6B0-D699-6EBE-36593866C65A}"/>
              </a:ext>
            </a:extLst>
          </p:cNvPr>
          <p:cNvSpPr>
            <a:spLocks noGrp="1"/>
          </p:cNvSpPr>
          <p:nvPr>
            <p:ph type="title"/>
          </p:nvPr>
        </p:nvSpPr>
        <p:spPr>
          <a:xfrm>
            <a:off x="2785872" y="2130552"/>
            <a:ext cx="6620256" cy="1069848"/>
          </a:xfrm>
        </p:spPr>
        <p:txBody>
          <a:bodyPr anchor="b">
            <a:normAutofit/>
          </a:bodyPr>
          <a:lstStyle/>
          <a:p>
            <a:r>
              <a:rPr lang="en-US"/>
              <a:t>Utility Tree of Top ASRs</a:t>
            </a:r>
          </a:p>
        </p:txBody>
      </p:sp>
      <p:graphicFrame>
        <p:nvGraphicFramePr>
          <p:cNvPr id="5" name="Content Placeholder 4">
            <a:extLst>
              <a:ext uri="{FF2B5EF4-FFF2-40B4-BE49-F238E27FC236}">
                <a16:creationId xmlns:a16="http://schemas.microsoft.com/office/drawing/2014/main" id="{02EFCD5D-1639-4319-8AD9-F2C81C9F24BF}"/>
              </a:ext>
            </a:extLst>
          </p:cNvPr>
          <p:cNvGraphicFramePr>
            <a:graphicFrameLocks noGrp="1"/>
          </p:cNvGraphicFramePr>
          <p:nvPr>
            <p:ph sz="quarter" idx="13"/>
          </p:nvPr>
        </p:nvGraphicFramePr>
        <p:xfrm>
          <a:off x="3764280" y="3547241"/>
          <a:ext cx="4663441" cy="1332121"/>
        </p:xfrm>
        <a:graphic>
          <a:graphicData uri="http://schemas.openxmlformats.org/drawingml/2006/table">
            <a:tbl>
              <a:tblPr firstRow="1" bandRow="1">
                <a:noFill/>
                <a:tableStyleId>{5C22544A-7EE6-4342-B048-85BDC9FD1C3A}</a:tableStyleId>
              </a:tblPr>
              <a:tblGrid>
                <a:gridCol w="1543168">
                  <a:extLst>
                    <a:ext uri="{9D8B030D-6E8A-4147-A177-3AD203B41FA5}">
                      <a16:colId xmlns:a16="http://schemas.microsoft.com/office/drawing/2014/main" val="3776693129"/>
                    </a:ext>
                  </a:extLst>
                </a:gridCol>
                <a:gridCol w="1696530">
                  <a:extLst>
                    <a:ext uri="{9D8B030D-6E8A-4147-A177-3AD203B41FA5}">
                      <a16:colId xmlns:a16="http://schemas.microsoft.com/office/drawing/2014/main" val="3490784827"/>
                    </a:ext>
                  </a:extLst>
                </a:gridCol>
                <a:gridCol w="1423743">
                  <a:extLst>
                    <a:ext uri="{9D8B030D-6E8A-4147-A177-3AD203B41FA5}">
                      <a16:colId xmlns:a16="http://schemas.microsoft.com/office/drawing/2014/main" val="812903432"/>
                    </a:ext>
                  </a:extLst>
                </a:gridCol>
              </a:tblGrid>
              <a:tr h="326843">
                <a:tc>
                  <a:txBody>
                    <a:bodyPr/>
                    <a:lstStyle/>
                    <a:p>
                      <a:pPr>
                        <a:buNone/>
                      </a:pPr>
                      <a:r>
                        <a:rPr lang="en-US" sz="900" b="1" cap="all" spc="150">
                          <a:solidFill>
                            <a:schemeClr val="tx1"/>
                          </a:solidFill>
                        </a:rPr>
                        <a:t>Attribute</a:t>
                      </a:r>
                    </a:p>
                  </a:txBody>
                  <a:tcPr marL="80813" marR="80813" marT="80813" marB="8081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900" b="1" cap="all" spc="150">
                          <a:solidFill>
                            <a:schemeClr val="tx1"/>
                          </a:solidFill>
                        </a:rPr>
                        <a:t>Refinement</a:t>
                      </a:r>
                    </a:p>
                  </a:txBody>
                  <a:tcPr marL="80813" marR="80813" marT="80813" marB="8081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900" b="1" cap="all" spc="150">
                          <a:solidFill>
                            <a:schemeClr val="tx1"/>
                          </a:solidFill>
                        </a:rPr>
                        <a:t>Example Tactic</a:t>
                      </a:r>
                    </a:p>
                  </a:txBody>
                  <a:tcPr marL="80813" marR="80813" marT="80813" marB="80813"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3319310498"/>
                  </a:ext>
                </a:extLst>
              </a:tr>
              <a:tr h="299906">
                <a:tc>
                  <a:txBody>
                    <a:bodyPr/>
                    <a:lstStyle/>
                    <a:p>
                      <a:pPr>
                        <a:buNone/>
                      </a:pPr>
                      <a:r>
                        <a:rPr lang="en-US" sz="800" b="1" cap="none" spc="0" dirty="0">
                          <a:solidFill>
                            <a:schemeClr val="tx1"/>
                          </a:solidFill>
                        </a:rPr>
                        <a:t>Security</a:t>
                      </a:r>
                    </a:p>
                  </a:txBody>
                  <a:tcPr marL="80813" marR="80813" marT="80813" marB="8081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800" cap="none" spc="0">
                          <a:solidFill>
                            <a:schemeClr val="tx1"/>
                          </a:solidFill>
                        </a:rPr>
                        <a:t>Authentication and access control</a:t>
                      </a:r>
                    </a:p>
                  </a:txBody>
                  <a:tcPr marL="80813" marR="80813" marT="80813" marB="8081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800" cap="none" spc="0">
                          <a:solidFill>
                            <a:schemeClr val="tx1"/>
                          </a:solidFill>
                        </a:rPr>
                        <a:t>SSO, OAuth</a:t>
                      </a:r>
                    </a:p>
                  </a:txBody>
                  <a:tcPr marL="80813" marR="80813" marT="80813" marB="8081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817231561"/>
                  </a:ext>
                </a:extLst>
              </a:tr>
              <a:tr h="299906">
                <a:tc>
                  <a:txBody>
                    <a:bodyPr/>
                    <a:lstStyle/>
                    <a:p>
                      <a:pPr>
                        <a:buNone/>
                      </a:pPr>
                      <a:r>
                        <a:rPr lang="en-US" sz="800" b="1" cap="none" spc="0">
                          <a:solidFill>
                            <a:schemeClr val="tx1"/>
                          </a:solidFill>
                        </a:rPr>
                        <a:t>Availability</a:t>
                      </a:r>
                    </a:p>
                  </a:txBody>
                  <a:tcPr marL="80813" marR="80813" marT="80813" marB="8081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a:solidFill>
                            <a:schemeClr val="tx1"/>
                          </a:solidFill>
                        </a:rPr>
                        <a:t>Fault detection and recovery</a:t>
                      </a:r>
                    </a:p>
                  </a:txBody>
                  <a:tcPr marL="80813" marR="80813" marT="80813" marB="8081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a:solidFill>
                            <a:schemeClr val="tx1"/>
                          </a:solidFill>
                        </a:rPr>
                        <a:t>Redundancy, ping checks</a:t>
                      </a:r>
                    </a:p>
                  </a:txBody>
                  <a:tcPr marL="80813" marR="80813" marT="80813" marB="8081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589758686"/>
                  </a:ext>
                </a:extLst>
              </a:tr>
              <a:tr h="299906">
                <a:tc>
                  <a:txBody>
                    <a:bodyPr/>
                    <a:lstStyle/>
                    <a:p>
                      <a:pPr>
                        <a:buNone/>
                      </a:pPr>
                      <a:r>
                        <a:rPr lang="en-US" sz="800" b="1" cap="none" spc="0">
                          <a:solidFill>
                            <a:schemeClr val="tx1"/>
                          </a:solidFill>
                        </a:rPr>
                        <a:t>Interoperability</a:t>
                      </a:r>
                    </a:p>
                  </a:txBody>
                  <a:tcPr marL="80813" marR="80813" marT="80813" marB="8081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a:solidFill>
                            <a:schemeClr val="tx1"/>
                          </a:solidFill>
                        </a:rPr>
                        <a:t>Protocol support</a:t>
                      </a:r>
                    </a:p>
                  </a:txBody>
                  <a:tcPr marL="80813" marR="80813" marT="80813" marB="8081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dirty="0">
                          <a:solidFill>
                            <a:schemeClr val="tx1"/>
                          </a:solidFill>
                        </a:rPr>
                        <a:t>ZigBee, Bluetooth LE</a:t>
                      </a:r>
                    </a:p>
                  </a:txBody>
                  <a:tcPr marL="80813" marR="80813" marT="80813" marB="8081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462650572"/>
                  </a:ext>
                </a:extLst>
              </a:tr>
            </a:tbl>
          </a:graphicData>
        </a:graphic>
      </p:graphicFrame>
    </p:spTree>
    <p:extLst>
      <p:ext uri="{BB962C8B-B14F-4D97-AF65-F5344CB8AC3E}">
        <p14:creationId xmlns:p14="http://schemas.microsoft.com/office/powerpoint/2010/main" val="63166281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20A68-742C-5526-EC8C-4C2F26AE8D20}"/>
              </a:ext>
            </a:extLst>
          </p:cNvPr>
          <p:cNvSpPr>
            <a:spLocks noGrp="1"/>
          </p:cNvSpPr>
          <p:nvPr>
            <p:ph type="title"/>
          </p:nvPr>
        </p:nvSpPr>
        <p:spPr>
          <a:xfrm>
            <a:off x="948194" y="0"/>
            <a:ext cx="6620256" cy="1069848"/>
          </a:xfrm>
        </p:spPr>
        <p:txBody>
          <a:bodyPr anchor="b">
            <a:normAutofit/>
          </a:bodyPr>
          <a:lstStyle/>
          <a:p>
            <a:r>
              <a:rPr lang="en-US" dirty="0"/>
              <a:t>Tactics to Achieve ASRs</a:t>
            </a:r>
          </a:p>
        </p:txBody>
      </p:sp>
      <p:graphicFrame>
        <p:nvGraphicFramePr>
          <p:cNvPr id="5" name="Content Placeholder 4">
            <a:extLst>
              <a:ext uri="{FF2B5EF4-FFF2-40B4-BE49-F238E27FC236}">
                <a16:creationId xmlns:a16="http://schemas.microsoft.com/office/drawing/2014/main" id="{81CB1285-1A01-4107-9FAB-FF02984D057F}"/>
              </a:ext>
            </a:extLst>
          </p:cNvPr>
          <p:cNvGraphicFramePr>
            <a:graphicFrameLocks noGrp="1"/>
          </p:cNvGraphicFramePr>
          <p:nvPr>
            <p:ph sz="quarter" idx="13"/>
            <p:extLst>
              <p:ext uri="{D42A27DB-BD31-4B8C-83A1-F6EECF244321}">
                <p14:modId xmlns:p14="http://schemas.microsoft.com/office/powerpoint/2010/main" val="958983058"/>
              </p:ext>
            </p:extLst>
          </p:nvPr>
        </p:nvGraphicFramePr>
        <p:xfrm>
          <a:off x="948193" y="1338146"/>
          <a:ext cx="9835035" cy="3127663"/>
        </p:xfrm>
        <a:graphic>
          <a:graphicData uri="http://schemas.openxmlformats.org/drawingml/2006/table">
            <a:tbl>
              <a:tblPr firstRow="1" bandRow="1">
                <a:noFill/>
                <a:tableStyleId>{5C22544A-7EE6-4342-B048-85BDC9FD1C3A}</a:tableStyleId>
              </a:tblPr>
              <a:tblGrid>
                <a:gridCol w="1034530">
                  <a:extLst>
                    <a:ext uri="{9D8B030D-6E8A-4147-A177-3AD203B41FA5}">
                      <a16:colId xmlns:a16="http://schemas.microsoft.com/office/drawing/2014/main" val="2422750855"/>
                    </a:ext>
                  </a:extLst>
                </a:gridCol>
                <a:gridCol w="1517188">
                  <a:extLst>
                    <a:ext uri="{9D8B030D-6E8A-4147-A177-3AD203B41FA5}">
                      <a16:colId xmlns:a16="http://schemas.microsoft.com/office/drawing/2014/main" val="2280119941"/>
                    </a:ext>
                  </a:extLst>
                </a:gridCol>
                <a:gridCol w="2143199">
                  <a:extLst>
                    <a:ext uri="{9D8B030D-6E8A-4147-A177-3AD203B41FA5}">
                      <a16:colId xmlns:a16="http://schemas.microsoft.com/office/drawing/2014/main" val="2117499082"/>
                    </a:ext>
                  </a:extLst>
                </a:gridCol>
                <a:gridCol w="2570059">
                  <a:extLst>
                    <a:ext uri="{9D8B030D-6E8A-4147-A177-3AD203B41FA5}">
                      <a16:colId xmlns:a16="http://schemas.microsoft.com/office/drawing/2014/main" val="1193924458"/>
                    </a:ext>
                  </a:extLst>
                </a:gridCol>
                <a:gridCol w="2570059">
                  <a:extLst>
                    <a:ext uri="{9D8B030D-6E8A-4147-A177-3AD203B41FA5}">
                      <a16:colId xmlns:a16="http://schemas.microsoft.com/office/drawing/2014/main" val="1161296868"/>
                    </a:ext>
                  </a:extLst>
                </a:gridCol>
              </a:tblGrid>
              <a:tr h="1088054">
                <a:tc>
                  <a:txBody>
                    <a:bodyPr/>
                    <a:lstStyle/>
                    <a:p>
                      <a:pPr>
                        <a:buNone/>
                      </a:pPr>
                      <a:r>
                        <a:rPr lang="en-US" sz="1200" b="1" cap="all" spc="150" dirty="0">
                          <a:solidFill>
                            <a:schemeClr val="tx1"/>
                          </a:solidFill>
                        </a:rPr>
                        <a:t>Quality Attribute</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Scenario</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Tactics</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Caching </a:t>
                      </a:r>
                      <a:r>
                        <a:rPr lang="en-US" sz="1200" b="1" cap="all" spc="150" dirty="0" err="1">
                          <a:solidFill>
                            <a:schemeClr val="tx1"/>
                          </a:solidFill>
                        </a:rPr>
                        <a:t>straegy</a:t>
                      </a:r>
                      <a:endParaRPr lang="en-US" sz="1200" b="1" cap="all" spc="150" dirty="0">
                        <a:solidFill>
                          <a:schemeClr val="tx1"/>
                        </a:solidFill>
                      </a:endParaRP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round/>
                      <a:headEnd type="none" w="med" len="med"/>
                      <a:tailEnd type="none" w="med" len="med"/>
                    </a:lnB>
                    <a:noFill/>
                  </a:tcPr>
                </a:tc>
                <a:tc>
                  <a:txBody>
                    <a:bodyPr/>
                    <a:lstStyle/>
                    <a:p>
                      <a:pPr>
                        <a:buNone/>
                      </a:pPr>
                      <a:r>
                        <a:rPr lang="en-US" sz="1200" b="1" cap="all" spc="150" dirty="0">
                          <a:solidFill>
                            <a:schemeClr val="tx1"/>
                          </a:solidFill>
                        </a:rPr>
                        <a:t>Tools</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0020417"/>
                  </a:ext>
                </a:extLst>
              </a:tr>
              <a:tr h="982987">
                <a:tc>
                  <a:txBody>
                    <a:bodyPr/>
                    <a:lstStyle/>
                    <a:p>
                      <a:pPr>
                        <a:buNone/>
                      </a:pPr>
                      <a:r>
                        <a:rPr lang="en-US" sz="1200" b="1" cap="none" spc="0" dirty="0">
                          <a:solidFill>
                            <a:schemeClr val="tx1"/>
                          </a:solidFill>
                        </a:rPr>
                        <a:t>Security</a:t>
                      </a:r>
                    </a:p>
                  </a:txBody>
                  <a:tcPr marL="74008" marR="74008" marT="74008" marB="7400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dirty="0">
                          <a:solidFill>
                            <a:schemeClr val="tx1"/>
                          </a:solidFill>
                        </a:rPr>
                        <a:t>Authorized user interaction with role-based permissions</a:t>
                      </a:r>
                    </a:p>
                  </a:txBody>
                  <a:tcPr marL="74008" marR="74008" marT="74008" marB="7400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dirty="0">
                          <a:solidFill>
                            <a:schemeClr val="tx1"/>
                          </a:solidFill>
                        </a:rPr>
                        <a:t>SSO, OAuth, role-based access, encrypted communication</a:t>
                      </a:r>
                    </a:p>
                  </a:txBody>
                  <a:tcPr marL="74008" marR="74008" marT="74008" marB="7400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dirty="0">
                          <a:solidFill>
                            <a:schemeClr val="tx1"/>
                          </a:solidFill>
                        </a:rPr>
                        <a:t>Cache user roles and permissions, Short-Lived tokens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Authentication Service, Redis or Memcached</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482390"/>
                  </a:ext>
                </a:extLst>
              </a:tr>
              <a:tr h="1056622">
                <a:tc>
                  <a:txBody>
                    <a:bodyPr/>
                    <a:lstStyle/>
                    <a:p>
                      <a:pPr>
                        <a:buNone/>
                      </a:pPr>
                      <a:endParaRPr lang="en-US" sz="1200" b="1" cap="none" spc="0" dirty="0">
                        <a:solidFill>
                          <a:schemeClr val="tx1"/>
                        </a:solidFill>
                      </a:endParaRP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Secure Communication Between Devices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Encrypted Communication, Device Authentication, Secure Boot and Firmware Validation</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Cache Device credentials and session keys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MQTT with TLS, Hardware Security Modules, Local secure cache</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1232129"/>
                  </a:ext>
                </a:extLst>
              </a:tr>
            </a:tbl>
          </a:graphicData>
        </a:graphic>
      </p:graphicFrame>
    </p:spTree>
    <p:extLst>
      <p:ext uri="{BB962C8B-B14F-4D97-AF65-F5344CB8AC3E}">
        <p14:creationId xmlns:p14="http://schemas.microsoft.com/office/powerpoint/2010/main" val="136382198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4">
            <a:extLst>
              <a:ext uri="{FF2B5EF4-FFF2-40B4-BE49-F238E27FC236}">
                <a16:creationId xmlns:a16="http://schemas.microsoft.com/office/drawing/2014/main" id="{648093C1-D197-A99D-7BB9-2AA63A2C2BBA}"/>
              </a:ext>
            </a:extLst>
          </p:cNvPr>
          <p:cNvGraphicFramePr>
            <a:graphicFrameLocks/>
          </p:cNvGraphicFramePr>
          <p:nvPr>
            <p:extLst>
              <p:ext uri="{D42A27DB-BD31-4B8C-83A1-F6EECF244321}">
                <p14:modId xmlns:p14="http://schemas.microsoft.com/office/powerpoint/2010/main" val="329257448"/>
              </p:ext>
            </p:extLst>
          </p:nvPr>
        </p:nvGraphicFramePr>
        <p:xfrm>
          <a:off x="1293541" y="1081669"/>
          <a:ext cx="9578897" cy="2741267"/>
        </p:xfrm>
        <a:graphic>
          <a:graphicData uri="http://schemas.openxmlformats.org/drawingml/2006/table">
            <a:tbl>
              <a:tblPr firstRow="1" bandRow="1">
                <a:noFill/>
                <a:tableStyleId>{5C22544A-7EE6-4342-B048-85BDC9FD1C3A}</a:tableStyleId>
              </a:tblPr>
              <a:tblGrid>
                <a:gridCol w="1007587">
                  <a:extLst>
                    <a:ext uri="{9D8B030D-6E8A-4147-A177-3AD203B41FA5}">
                      <a16:colId xmlns:a16="http://schemas.microsoft.com/office/drawing/2014/main" val="2422750855"/>
                    </a:ext>
                  </a:extLst>
                </a:gridCol>
                <a:gridCol w="1477675">
                  <a:extLst>
                    <a:ext uri="{9D8B030D-6E8A-4147-A177-3AD203B41FA5}">
                      <a16:colId xmlns:a16="http://schemas.microsoft.com/office/drawing/2014/main" val="2280119941"/>
                    </a:ext>
                  </a:extLst>
                </a:gridCol>
                <a:gridCol w="2087383">
                  <a:extLst>
                    <a:ext uri="{9D8B030D-6E8A-4147-A177-3AD203B41FA5}">
                      <a16:colId xmlns:a16="http://schemas.microsoft.com/office/drawing/2014/main" val="2117499082"/>
                    </a:ext>
                  </a:extLst>
                </a:gridCol>
                <a:gridCol w="2503126">
                  <a:extLst>
                    <a:ext uri="{9D8B030D-6E8A-4147-A177-3AD203B41FA5}">
                      <a16:colId xmlns:a16="http://schemas.microsoft.com/office/drawing/2014/main" val="1193924458"/>
                    </a:ext>
                  </a:extLst>
                </a:gridCol>
                <a:gridCol w="2503126">
                  <a:extLst>
                    <a:ext uri="{9D8B030D-6E8A-4147-A177-3AD203B41FA5}">
                      <a16:colId xmlns:a16="http://schemas.microsoft.com/office/drawing/2014/main" val="1161296868"/>
                    </a:ext>
                  </a:extLst>
                </a:gridCol>
              </a:tblGrid>
              <a:tr h="976627">
                <a:tc>
                  <a:txBody>
                    <a:bodyPr/>
                    <a:lstStyle/>
                    <a:p>
                      <a:pPr>
                        <a:buNone/>
                      </a:pPr>
                      <a:r>
                        <a:rPr lang="en-US" sz="1200" b="1" cap="all" spc="150" dirty="0">
                          <a:solidFill>
                            <a:schemeClr val="tx1"/>
                          </a:solidFill>
                        </a:rPr>
                        <a:t>Quality Attribute</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Scenario</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Tactics</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Caching </a:t>
                      </a:r>
                      <a:r>
                        <a:rPr lang="en-US" sz="1200" b="1" cap="all" spc="150" dirty="0" err="1">
                          <a:solidFill>
                            <a:schemeClr val="tx1"/>
                          </a:solidFill>
                        </a:rPr>
                        <a:t>straegy</a:t>
                      </a:r>
                      <a:endParaRPr lang="en-US" sz="1200" b="1" cap="all" spc="150" dirty="0">
                        <a:solidFill>
                          <a:schemeClr val="tx1"/>
                        </a:solidFill>
                      </a:endParaRP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round/>
                      <a:headEnd type="none" w="med" len="med"/>
                      <a:tailEnd type="none" w="med" len="med"/>
                    </a:lnB>
                    <a:noFill/>
                  </a:tcPr>
                </a:tc>
                <a:tc>
                  <a:txBody>
                    <a:bodyPr/>
                    <a:lstStyle/>
                    <a:p>
                      <a:pPr>
                        <a:buNone/>
                      </a:pPr>
                      <a:r>
                        <a:rPr lang="en-US" sz="1200" b="1" cap="all" spc="150" dirty="0">
                          <a:solidFill>
                            <a:schemeClr val="tx1"/>
                          </a:solidFill>
                        </a:rPr>
                        <a:t>Tools</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0020417"/>
                  </a:ext>
                </a:extLst>
              </a:tr>
              <a:tr h="882320">
                <a:tc>
                  <a:txBody>
                    <a:bodyPr/>
                    <a:lstStyle/>
                    <a:p>
                      <a:pPr>
                        <a:buNone/>
                      </a:pPr>
                      <a:r>
                        <a:rPr lang="en-US" sz="1200" b="1" cap="none" spc="0" dirty="0">
                          <a:solidFill>
                            <a:schemeClr val="tx1"/>
                          </a:solidFill>
                        </a:rPr>
                        <a:t>Availability</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Fault detection and recovery</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Ping/echo checks, redundancy, scalable cloud services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Cache device health status, fallback configurations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Prometheus or </a:t>
                      </a:r>
                      <a:r>
                        <a:rPr lang="en-US" sz="1200" cap="none" spc="0" dirty="0" err="1">
                          <a:solidFill>
                            <a:schemeClr val="tx1"/>
                          </a:solidFill>
                        </a:rPr>
                        <a:t>AWSCloudWatch</a:t>
                      </a:r>
                      <a:r>
                        <a:rPr lang="en-US" sz="1200" cap="none" spc="0" dirty="0">
                          <a:solidFill>
                            <a:schemeClr val="tx1"/>
                          </a:solidFill>
                        </a:rPr>
                        <a:t>, Redis, Load Balancers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4891665"/>
                  </a:ext>
                </a:extLst>
              </a:tr>
              <a:tr h="882320">
                <a:tc>
                  <a:txBody>
                    <a:bodyPr/>
                    <a:lstStyle/>
                    <a:p>
                      <a:pPr>
                        <a:buNone/>
                      </a:pPr>
                      <a:endParaRPr lang="en-US" sz="1200" b="1" cap="none" spc="0" dirty="0">
                        <a:solidFill>
                          <a:schemeClr val="tx1"/>
                        </a:solidFill>
                      </a:endParaRP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High Availability of smart services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Failover Mechanisms, Service Replication, Graceful Degradation</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lnB>
                    <a:noFill/>
                  </a:tcPr>
                </a:tc>
                <a:tc>
                  <a:txBody>
                    <a:bodyPr/>
                    <a:lstStyle/>
                    <a:p>
                      <a:pPr>
                        <a:buNone/>
                      </a:pPr>
                      <a:r>
                        <a:rPr lang="en-US" sz="1200" cap="none" spc="0" dirty="0">
                          <a:solidFill>
                            <a:schemeClr val="tx1"/>
                          </a:solidFill>
                        </a:rPr>
                        <a:t>Cache recent user commands and device states, replicated service metadata</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Distributed cache </a:t>
                      </a:r>
                      <a:r>
                        <a:rPr lang="en-US" sz="1200" cap="none" spc="0" dirty="0" err="1">
                          <a:solidFill>
                            <a:schemeClr val="tx1"/>
                          </a:solidFill>
                        </a:rPr>
                        <a:t>e.g.Redis</a:t>
                      </a:r>
                      <a:r>
                        <a:rPr lang="en-US" sz="1200" cap="none" spc="0" dirty="0">
                          <a:solidFill>
                            <a:schemeClr val="tx1"/>
                          </a:solidFill>
                        </a:rPr>
                        <a:t> cluster, Kubernetes or Docker swarm, Local storage</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6029352"/>
                  </a:ext>
                </a:extLst>
              </a:tr>
            </a:tbl>
          </a:graphicData>
        </a:graphic>
      </p:graphicFrame>
    </p:spTree>
    <p:extLst>
      <p:ext uri="{BB962C8B-B14F-4D97-AF65-F5344CB8AC3E}">
        <p14:creationId xmlns:p14="http://schemas.microsoft.com/office/powerpoint/2010/main" val="95984579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3AB8DC6-3D72-4E9D-B43F-77D4E3E03463}"/>
              </a:ext>
            </a:extLst>
          </p:cNvPr>
          <p:cNvGraphicFramePr>
            <a:graphicFrameLocks noGrp="1"/>
          </p:cNvGraphicFramePr>
          <p:nvPr>
            <p:extLst>
              <p:ext uri="{D42A27DB-BD31-4B8C-83A1-F6EECF244321}">
                <p14:modId xmlns:p14="http://schemas.microsoft.com/office/powerpoint/2010/main" val="3856470018"/>
              </p:ext>
            </p:extLst>
          </p:nvPr>
        </p:nvGraphicFramePr>
        <p:xfrm>
          <a:off x="1306551" y="1415005"/>
          <a:ext cx="9578897" cy="2741267"/>
        </p:xfrm>
        <a:graphic>
          <a:graphicData uri="http://schemas.openxmlformats.org/drawingml/2006/table">
            <a:tbl>
              <a:tblPr firstRow="1" bandRow="1">
                <a:noFill/>
                <a:tableStyleId>{5C22544A-7EE6-4342-B048-85BDC9FD1C3A}</a:tableStyleId>
              </a:tblPr>
              <a:tblGrid>
                <a:gridCol w="1007587">
                  <a:extLst>
                    <a:ext uri="{9D8B030D-6E8A-4147-A177-3AD203B41FA5}">
                      <a16:colId xmlns:a16="http://schemas.microsoft.com/office/drawing/2014/main" val="2423062102"/>
                    </a:ext>
                  </a:extLst>
                </a:gridCol>
                <a:gridCol w="1477675">
                  <a:extLst>
                    <a:ext uri="{9D8B030D-6E8A-4147-A177-3AD203B41FA5}">
                      <a16:colId xmlns:a16="http://schemas.microsoft.com/office/drawing/2014/main" val="2054991168"/>
                    </a:ext>
                  </a:extLst>
                </a:gridCol>
                <a:gridCol w="2087383">
                  <a:extLst>
                    <a:ext uri="{9D8B030D-6E8A-4147-A177-3AD203B41FA5}">
                      <a16:colId xmlns:a16="http://schemas.microsoft.com/office/drawing/2014/main" val="4089129766"/>
                    </a:ext>
                  </a:extLst>
                </a:gridCol>
                <a:gridCol w="2503126">
                  <a:extLst>
                    <a:ext uri="{9D8B030D-6E8A-4147-A177-3AD203B41FA5}">
                      <a16:colId xmlns:a16="http://schemas.microsoft.com/office/drawing/2014/main" val="884957694"/>
                    </a:ext>
                  </a:extLst>
                </a:gridCol>
                <a:gridCol w="2503126">
                  <a:extLst>
                    <a:ext uri="{9D8B030D-6E8A-4147-A177-3AD203B41FA5}">
                      <a16:colId xmlns:a16="http://schemas.microsoft.com/office/drawing/2014/main" val="326027153"/>
                    </a:ext>
                  </a:extLst>
                </a:gridCol>
              </a:tblGrid>
              <a:tr h="976627">
                <a:tc>
                  <a:txBody>
                    <a:bodyPr/>
                    <a:lstStyle/>
                    <a:p>
                      <a:pPr>
                        <a:buNone/>
                      </a:pPr>
                      <a:r>
                        <a:rPr lang="en-US" sz="1200" b="1" cap="all" spc="150" dirty="0">
                          <a:solidFill>
                            <a:schemeClr val="tx1"/>
                          </a:solidFill>
                        </a:rPr>
                        <a:t>Quality Attribute</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Scenario</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Tactics</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200" b="1" cap="all" spc="150" dirty="0">
                          <a:solidFill>
                            <a:schemeClr val="tx1"/>
                          </a:solidFill>
                        </a:rPr>
                        <a:t>Caching </a:t>
                      </a:r>
                      <a:r>
                        <a:rPr lang="en-US" sz="1200" b="1" cap="all" spc="150" dirty="0" err="1">
                          <a:solidFill>
                            <a:schemeClr val="tx1"/>
                          </a:solidFill>
                        </a:rPr>
                        <a:t>straegy</a:t>
                      </a:r>
                      <a:endParaRPr lang="en-US" sz="1200" b="1" cap="all" spc="150" dirty="0">
                        <a:solidFill>
                          <a:schemeClr val="tx1"/>
                        </a:solidFill>
                      </a:endParaRP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round/>
                      <a:headEnd type="none" w="med" len="med"/>
                      <a:tailEnd type="none" w="med" len="med"/>
                    </a:lnB>
                    <a:noFill/>
                  </a:tcPr>
                </a:tc>
                <a:tc>
                  <a:txBody>
                    <a:bodyPr/>
                    <a:lstStyle/>
                    <a:p>
                      <a:pPr>
                        <a:buNone/>
                      </a:pPr>
                      <a:r>
                        <a:rPr lang="en-US" sz="1200" b="1" cap="all" spc="150" dirty="0">
                          <a:solidFill>
                            <a:schemeClr val="tx1"/>
                          </a:solidFill>
                        </a:rPr>
                        <a:t>Tools</a:t>
                      </a:r>
                    </a:p>
                  </a:txBody>
                  <a:tcPr marL="74008" marR="74008" marT="74008" marB="74008" anchor="ctr">
                    <a:lnL w="12700" cmpd="sng">
                      <a:noFill/>
                    </a:lnL>
                    <a:lnR w="12700" cmpd="sng">
                      <a:noFill/>
                    </a:lnR>
                    <a:lnT w="6350" cap="flat" cmpd="sng" algn="ctr">
                      <a:no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796878"/>
                  </a:ext>
                </a:extLst>
              </a:tr>
              <a:tr h="882320">
                <a:tc>
                  <a:txBody>
                    <a:bodyPr/>
                    <a:lstStyle/>
                    <a:p>
                      <a:pPr>
                        <a:buNone/>
                      </a:pPr>
                      <a:r>
                        <a:rPr lang="en-US" sz="1200" b="1" cap="none" spc="0">
                          <a:solidFill>
                            <a:schemeClr val="tx1"/>
                          </a:solidFill>
                        </a:rPr>
                        <a:t>Interoperability</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Compatibility with standard protocols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Support for ZigBee, Bluetooth LE, Z-Wave</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Cache protocol mappings, store device profiles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US" sz="1200" cap="none" spc="0" dirty="0">
                          <a:solidFill>
                            <a:schemeClr val="tx1"/>
                          </a:solidFill>
                        </a:rPr>
                        <a:t>Open HAB, Redis or in-memory cache</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9137455"/>
                  </a:ext>
                </a:extLst>
              </a:tr>
              <a:tr h="882320">
                <a:tc>
                  <a:txBody>
                    <a:bodyPr/>
                    <a:lstStyle/>
                    <a:p>
                      <a:pPr>
                        <a:buNone/>
                      </a:pPr>
                      <a:endParaRPr lang="en-US" sz="1200" b="1" cap="none" spc="0">
                        <a:solidFill>
                          <a:schemeClr val="tx1"/>
                        </a:solidFill>
                      </a:endParaRP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noFill/>
                      <a:prstDash val="solid"/>
                    </a:lnB>
                    <a:noFill/>
                  </a:tcPr>
                </a:tc>
                <a:tc>
                  <a:txBody>
                    <a:bodyPr/>
                    <a:lstStyle/>
                    <a:p>
                      <a:pPr>
                        <a:buNone/>
                      </a:pPr>
                      <a:r>
                        <a:rPr lang="en-US" sz="1200" cap="none" spc="0" dirty="0">
                          <a:solidFill>
                            <a:schemeClr val="tx1"/>
                          </a:solidFill>
                        </a:rPr>
                        <a:t>Integration with Third party smart devices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noFill/>
                      <a:prstDash val="solid"/>
                    </a:lnB>
                    <a:noFill/>
                  </a:tcPr>
                </a:tc>
                <a:tc>
                  <a:txBody>
                    <a:bodyPr/>
                    <a:lstStyle/>
                    <a:p>
                      <a:pPr>
                        <a:buNone/>
                      </a:pPr>
                      <a:r>
                        <a:rPr lang="en-US" sz="1200" cap="none" spc="0" dirty="0">
                          <a:solidFill>
                            <a:schemeClr val="tx1"/>
                          </a:solidFill>
                        </a:rPr>
                        <a:t>API-Based integration, Service Discovery</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noFill/>
                      <a:prstDash val="solid"/>
                    </a:lnB>
                    <a:noFill/>
                  </a:tcPr>
                </a:tc>
                <a:tc>
                  <a:txBody>
                    <a:bodyPr/>
                    <a:lstStyle/>
                    <a:p>
                      <a:pPr>
                        <a:buNone/>
                      </a:pPr>
                      <a:r>
                        <a:rPr lang="en-US" sz="1200" cap="none" spc="0" dirty="0">
                          <a:solidFill>
                            <a:schemeClr val="tx1"/>
                          </a:solidFill>
                        </a:rPr>
                        <a:t>Cache API endpoints and authentication tokens, device discovery results</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noFill/>
                      <a:prstDash val="solid"/>
                    </a:lnB>
                    <a:noFill/>
                  </a:tcPr>
                </a:tc>
                <a:tc>
                  <a:txBody>
                    <a:bodyPr/>
                    <a:lstStyle/>
                    <a:p>
                      <a:pPr>
                        <a:buNone/>
                      </a:pPr>
                      <a:r>
                        <a:rPr lang="en-US" sz="1200" cap="none" spc="0" dirty="0">
                          <a:solidFill>
                            <a:schemeClr val="tx1"/>
                          </a:solidFill>
                        </a:rPr>
                        <a:t>MQTT broker, Redis, Service Registry</a:t>
                      </a:r>
                    </a:p>
                  </a:txBody>
                  <a:tcPr marL="74008" marR="74008" marT="74008" marB="74008" anchor="ctr">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noFill/>
                      <a:prstDash val="solid"/>
                    </a:lnB>
                    <a:noFill/>
                  </a:tcPr>
                </a:tc>
                <a:extLst>
                  <a:ext uri="{0D108BD9-81ED-4DB2-BD59-A6C34878D82A}">
                    <a16:rowId xmlns:a16="http://schemas.microsoft.com/office/drawing/2014/main" val="2382186063"/>
                  </a:ext>
                </a:extLst>
              </a:tr>
            </a:tbl>
          </a:graphicData>
        </a:graphic>
      </p:graphicFrame>
    </p:spTree>
    <p:extLst>
      <p:ext uri="{BB962C8B-B14F-4D97-AF65-F5344CB8AC3E}">
        <p14:creationId xmlns:p14="http://schemas.microsoft.com/office/powerpoint/2010/main" val="1614953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CB1D9-0C89-508A-0A1D-D6930A047A7B}"/>
              </a:ext>
            </a:extLst>
          </p:cNvPr>
          <p:cNvSpPr>
            <a:spLocks noGrp="1"/>
          </p:cNvSpPr>
          <p:nvPr>
            <p:ph type="title"/>
          </p:nvPr>
        </p:nvSpPr>
        <p:spPr>
          <a:xfrm>
            <a:off x="843254" y="553519"/>
            <a:ext cx="9839613" cy="4940661"/>
          </a:xfrm>
        </p:spPr>
        <p:txBody>
          <a:bodyPr anchor="t">
            <a:normAutofit/>
          </a:bodyPr>
          <a:lstStyle/>
          <a:p>
            <a:r>
              <a:rPr lang="en-US" dirty="0"/>
              <a:t>Component Connector Diagram</a:t>
            </a:r>
          </a:p>
        </p:txBody>
      </p:sp>
      <p:sp>
        <p:nvSpPr>
          <p:cNvPr id="3" name="Content Placeholder 2">
            <a:extLst>
              <a:ext uri="{FF2B5EF4-FFF2-40B4-BE49-F238E27FC236}">
                <a16:creationId xmlns:a16="http://schemas.microsoft.com/office/drawing/2014/main" id="{A799220F-CE74-C479-196A-E023E3C9344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43254" y="4638908"/>
            <a:ext cx="10505492" cy="1665574"/>
          </a:xfrm>
        </p:spPr>
        <p:txBody>
          <a:bodyPr>
            <a:normAutofit fontScale="25000" lnSpcReduction="20000"/>
          </a:bodyPr>
          <a:lstStyle/>
          <a:p>
            <a:pPr marL="0" indent="0">
              <a:spcBef>
                <a:spcPts val="2500"/>
              </a:spcBef>
              <a:buFont typeface="Arial" panose="020B0604020202020204" pitchFamily="34" charset="0"/>
              <a:buNone/>
            </a:pPr>
            <a:r>
              <a:rPr lang="en-US" sz="4000" b="1" dirty="0"/>
              <a:t>Core Smart Home Components</a:t>
            </a:r>
          </a:p>
          <a:p>
            <a:pPr marL="0" lvl="1" indent="0">
              <a:buFont typeface="Arial" panose="020B0604020202020204" pitchFamily="34" charset="0"/>
              <a:buNone/>
            </a:pPr>
            <a:r>
              <a:rPr sz="4000" dirty="0"/>
              <a:t>The system includes mobile app, smart hub, IoT sensors, smart speakers, and broker components.</a:t>
            </a:r>
            <a:endParaRPr lang="en-US" sz="4000" dirty="0"/>
          </a:p>
          <a:p>
            <a:pPr marL="0" indent="0">
              <a:spcBef>
                <a:spcPts val="2500"/>
              </a:spcBef>
              <a:buFont typeface="Arial" panose="020B0604020202020204" pitchFamily="34" charset="0"/>
              <a:buNone/>
            </a:pPr>
            <a:r>
              <a:rPr lang="en-US" sz="4000" b="1" dirty="0"/>
              <a:t>Communication Methods</a:t>
            </a:r>
          </a:p>
          <a:p>
            <a:pPr marL="0" lvl="1" indent="0">
              <a:buFont typeface="Arial" panose="020B0604020202020204" pitchFamily="34" charset="0"/>
              <a:buNone/>
            </a:pPr>
            <a:r>
              <a:rPr sz="4000" dirty="0"/>
              <a:t>Instructions are sent via cloud services or local Wi-Fi for device interaction.</a:t>
            </a:r>
            <a:endParaRPr lang="en-US" sz="4000" dirty="0"/>
          </a:p>
          <a:p>
            <a:pPr marL="0" indent="0">
              <a:spcBef>
                <a:spcPts val="2500"/>
              </a:spcBef>
              <a:buFont typeface="Arial" panose="020B0604020202020204" pitchFamily="34" charset="0"/>
              <a:buNone/>
            </a:pPr>
            <a:r>
              <a:rPr lang="en-US" sz="4000" b="1" dirty="0"/>
              <a:t>Low-Energy Device Protocols</a:t>
            </a:r>
          </a:p>
          <a:p>
            <a:pPr marL="0" lvl="1" indent="0">
              <a:buFont typeface="Arial" panose="020B0604020202020204" pitchFamily="34" charset="0"/>
              <a:buNone/>
            </a:pPr>
            <a:r>
              <a:rPr sz="4000" dirty="0"/>
              <a:t>Devices communicate efficiently using low-energy wireless protocols for connectivity.</a:t>
            </a:r>
            <a:endParaRPr lang="en-US" sz="4000" dirty="0"/>
          </a:p>
        </p:txBody>
      </p:sp>
      <p:pic>
        <p:nvPicPr>
          <p:cNvPr id="6" name="Picture 5" descr="page6_img1.png">
            <a:extLst>
              <a:ext uri="{FF2B5EF4-FFF2-40B4-BE49-F238E27FC236}">
                <a16:creationId xmlns:a16="http://schemas.microsoft.com/office/drawing/2014/main" id="{9349FD97-B2B7-0780-E259-0179D59AB45B}"/>
              </a:ext>
            </a:extLst>
          </p:cNvPr>
          <p:cNvPicPr>
            <a:picLocks noChangeAspect="1"/>
          </p:cNvPicPr>
          <p:nvPr/>
        </p:nvPicPr>
        <p:blipFill>
          <a:blip r:embed="rId3"/>
          <a:stretch>
            <a:fillRect/>
          </a:stretch>
        </p:blipFill>
        <p:spPr>
          <a:xfrm>
            <a:off x="843254" y="1200081"/>
            <a:ext cx="10166717" cy="3338466"/>
          </a:xfrm>
          <a:prstGeom prst="rect">
            <a:avLst/>
          </a:prstGeom>
        </p:spPr>
      </p:pic>
    </p:spTree>
    <p:extLst>
      <p:ext uri="{BB962C8B-B14F-4D97-AF65-F5344CB8AC3E}">
        <p14:creationId xmlns:p14="http://schemas.microsoft.com/office/powerpoint/2010/main" val="30343288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B1A4-AE30-96F8-4AB2-024128D4BD33}"/>
              </a:ext>
            </a:extLst>
          </p:cNvPr>
          <p:cNvSpPr>
            <a:spLocks noGrp="1"/>
          </p:cNvSpPr>
          <p:nvPr>
            <p:ph type="title"/>
          </p:nvPr>
        </p:nvSpPr>
        <p:spPr>
          <a:xfrm>
            <a:off x="543650" y="500790"/>
            <a:ext cx="10804054" cy="4087368"/>
          </a:xfrm>
        </p:spPr>
        <p:txBody>
          <a:bodyPr anchor="t">
            <a:normAutofit/>
          </a:bodyPr>
          <a:lstStyle/>
          <a:p>
            <a:r>
              <a:rPr lang="en-US" dirty="0"/>
              <a:t>Deployment Diagram</a:t>
            </a:r>
          </a:p>
        </p:txBody>
      </p:sp>
      <p:graphicFrame>
        <p:nvGraphicFramePr>
          <p:cNvPr id="7" name="Content Placeholder 2">
            <a:extLst>
              <a:ext uri="{FF2B5EF4-FFF2-40B4-BE49-F238E27FC236}">
                <a16:creationId xmlns:a16="http://schemas.microsoft.com/office/drawing/2014/main" id="{BAA2C556-8097-03D5-9D35-83EC54D99A4B}"/>
              </a:ext>
            </a:extLst>
          </p:cNvPr>
          <p:cNvGraphicFramePr>
            <a:graphicFrameLocks noGrp="1"/>
          </p:cNvGraphicFramePr>
          <p:nvPr>
            <p:ph sz="quarter" idx="13"/>
            <p:extLst>
              <p:ext uri="{D42A27DB-BD31-4B8C-83A1-F6EECF244321}">
                <p14:modId xmlns:p14="http://schemas.microsoft.com/office/powerpoint/2010/main" val="323048239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702527" y="4995746"/>
          <a:ext cx="10645177" cy="1361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page7_img1.png">
            <a:extLst>
              <a:ext uri="{FF2B5EF4-FFF2-40B4-BE49-F238E27FC236}">
                <a16:creationId xmlns:a16="http://schemas.microsoft.com/office/drawing/2014/main" id="{810FD46D-6D38-D3B3-6AFC-4D9DF5903A0D}"/>
              </a:ext>
            </a:extLst>
          </p:cNvPr>
          <p:cNvPicPr>
            <a:picLocks noChangeAspect="1"/>
          </p:cNvPicPr>
          <p:nvPr/>
        </p:nvPicPr>
        <p:blipFill>
          <a:blip r:embed="rId8"/>
          <a:stretch>
            <a:fillRect/>
          </a:stretch>
        </p:blipFill>
        <p:spPr>
          <a:xfrm>
            <a:off x="914399" y="1097280"/>
            <a:ext cx="7839307" cy="3809257"/>
          </a:xfrm>
          <a:prstGeom prst="rect">
            <a:avLst/>
          </a:prstGeom>
        </p:spPr>
      </p:pic>
    </p:spTree>
    <p:extLst>
      <p:ext uri="{BB962C8B-B14F-4D97-AF65-F5344CB8AC3E}">
        <p14:creationId xmlns:p14="http://schemas.microsoft.com/office/powerpoint/2010/main" val="337391121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79E462-60C1-7C96-2772-F569F56494BD}"/>
              </a:ext>
            </a:extLst>
          </p:cNvPr>
          <p:cNvSpPr txBox="1"/>
          <p:nvPr/>
        </p:nvSpPr>
        <p:spPr>
          <a:xfrm>
            <a:off x="705315" y="634948"/>
            <a:ext cx="6094140" cy="369332"/>
          </a:xfrm>
          <a:prstGeom prst="rect">
            <a:avLst/>
          </a:prstGeom>
          <a:noFill/>
        </p:spPr>
        <p:txBody>
          <a:bodyPr wrap="square">
            <a:spAutoFit/>
          </a:bodyPr>
          <a:lstStyle/>
          <a:p>
            <a:r>
              <a:rPr lang="en-US" dirty="0"/>
              <a:t>Labeled Connections &amp; Communication Methods</a:t>
            </a:r>
          </a:p>
        </p:txBody>
      </p:sp>
      <p:sp>
        <p:nvSpPr>
          <p:cNvPr id="8" name="TextBox 7">
            <a:extLst>
              <a:ext uri="{FF2B5EF4-FFF2-40B4-BE49-F238E27FC236}">
                <a16:creationId xmlns:a16="http://schemas.microsoft.com/office/drawing/2014/main" id="{294C8DC4-FF99-AA80-1868-A41B6302CDAE}"/>
              </a:ext>
            </a:extLst>
          </p:cNvPr>
          <p:cNvSpPr txBox="1"/>
          <p:nvPr/>
        </p:nvSpPr>
        <p:spPr>
          <a:xfrm>
            <a:off x="705315" y="1142099"/>
            <a:ext cx="5390685" cy="2862322"/>
          </a:xfrm>
          <a:prstGeom prst="rect">
            <a:avLst/>
          </a:prstGeom>
          <a:noFill/>
        </p:spPr>
        <p:txBody>
          <a:bodyPr wrap="square">
            <a:spAutoFit/>
          </a:bodyPr>
          <a:lstStyle/>
          <a:p>
            <a:pPr>
              <a:buNone/>
            </a:pPr>
            <a:r>
              <a:rPr lang="en-US" b="1" dirty="0"/>
              <a:t>1. Mobile App → Smart Hub</a:t>
            </a:r>
          </a:p>
          <a:p>
            <a:pPr lvl="1" algn="ctr">
              <a:buFont typeface="Arial" panose="020B0604020202020204" pitchFamily="34" charset="0"/>
              <a:buChar char="•"/>
            </a:pPr>
            <a:r>
              <a:rPr lang="en-US" b="1" dirty="0"/>
              <a:t>Message</a:t>
            </a:r>
            <a:r>
              <a:rPr lang="en-US" dirty="0"/>
              <a:t>: User commands (e.g., lighting rules, gate control)</a:t>
            </a:r>
          </a:p>
          <a:p>
            <a:pPr lvl="1" algn="ctr">
              <a:buFont typeface="Arial" panose="020B0604020202020204" pitchFamily="34" charset="0"/>
              <a:buChar char="•"/>
            </a:pPr>
            <a:r>
              <a:rPr lang="en-US" b="1" dirty="0"/>
              <a:t>Communication Method</a:t>
            </a:r>
            <a:r>
              <a:rPr lang="en-US" dirty="0"/>
              <a:t>: </a:t>
            </a:r>
          </a:p>
          <a:p>
            <a:pPr marL="1200150" lvl="2" indent="-285750" algn="ctr">
              <a:buFont typeface="Arial" panose="020B0604020202020204" pitchFamily="34" charset="0"/>
              <a:buChar char="•"/>
            </a:pPr>
            <a:r>
              <a:rPr lang="en-US" b="1" dirty="0"/>
              <a:t>Cloud-based REST API</a:t>
            </a:r>
            <a:r>
              <a:rPr lang="en-US" dirty="0"/>
              <a:t> (when remote)</a:t>
            </a:r>
          </a:p>
          <a:p>
            <a:pPr marL="1200150" lvl="2" indent="-285750" algn="ctr">
              <a:buFont typeface="Arial" panose="020B0604020202020204" pitchFamily="34" charset="0"/>
              <a:buChar char="•"/>
            </a:pPr>
            <a:r>
              <a:rPr lang="en-US" b="1" dirty="0"/>
              <a:t>Local Wi-Fi</a:t>
            </a:r>
            <a:r>
              <a:rPr lang="en-US" dirty="0"/>
              <a:t> (when on the same network)</a:t>
            </a:r>
          </a:p>
          <a:p>
            <a:pPr lvl="1" algn="ctr">
              <a:buFont typeface="Arial" panose="020B0604020202020204" pitchFamily="34" charset="0"/>
              <a:buChar char="•"/>
            </a:pPr>
            <a:r>
              <a:rPr lang="en-US" b="1" dirty="0"/>
              <a:t>Label</a:t>
            </a:r>
            <a:r>
              <a:rPr lang="en-US" dirty="0"/>
              <a:t>: </a:t>
            </a:r>
            <a:r>
              <a:rPr lang="en-US" dirty="0" err="1">
                <a:latin typeface="Courier New" panose="02070309020205020404" pitchFamily="49" charset="0"/>
              </a:rPr>
              <a:t>UserCommandRequest</a:t>
            </a:r>
            <a:r>
              <a:rPr lang="en-US" dirty="0">
                <a:latin typeface="Courier New" panose="02070309020205020404" pitchFamily="49" charset="0"/>
              </a:rPr>
              <a:t> (REST/Wi-Fi)</a:t>
            </a:r>
            <a:endParaRPr lang="en-US" dirty="0"/>
          </a:p>
        </p:txBody>
      </p:sp>
      <p:sp>
        <p:nvSpPr>
          <p:cNvPr id="10" name="TextBox 9">
            <a:extLst>
              <a:ext uri="{FF2B5EF4-FFF2-40B4-BE49-F238E27FC236}">
                <a16:creationId xmlns:a16="http://schemas.microsoft.com/office/drawing/2014/main" id="{9078CAFA-6392-4C94-24A7-8A696D0E2766}"/>
              </a:ext>
            </a:extLst>
          </p:cNvPr>
          <p:cNvSpPr txBox="1"/>
          <p:nvPr/>
        </p:nvSpPr>
        <p:spPr>
          <a:xfrm>
            <a:off x="6096000" y="1142099"/>
            <a:ext cx="5791200" cy="2031325"/>
          </a:xfrm>
          <a:prstGeom prst="rect">
            <a:avLst/>
          </a:prstGeom>
          <a:noFill/>
        </p:spPr>
        <p:txBody>
          <a:bodyPr wrap="square">
            <a:spAutoFit/>
          </a:bodyPr>
          <a:lstStyle/>
          <a:p>
            <a:pPr>
              <a:buNone/>
            </a:pPr>
            <a:r>
              <a:rPr lang="en-US" b="1" dirty="0"/>
              <a:t>2. Smart Hub → IoT Sensors</a:t>
            </a:r>
          </a:p>
          <a:p>
            <a:pPr lvl="1" algn="ctr">
              <a:buFont typeface="Arial" panose="020B0604020202020204" pitchFamily="34" charset="0"/>
              <a:buChar char="•"/>
            </a:pPr>
            <a:r>
              <a:rPr lang="en-US" b="1" dirty="0"/>
              <a:t>Message</a:t>
            </a:r>
            <a:r>
              <a:rPr lang="en-US" dirty="0"/>
              <a:t>: Configuration updates, polling requests</a:t>
            </a:r>
          </a:p>
          <a:p>
            <a:pPr lvl="1" algn="ctr">
              <a:buFont typeface="Arial" panose="020B0604020202020204" pitchFamily="34" charset="0"/>
              <a:buChar char="•"/>
            </a:pPr>
            <a:r>
              <a:rPr lang="en-US" b="1" dirty="0"/>
              <a:t>Communication Method</a:t>
            </a:r>
            <a:r>
              <a:rPr lang="en-US" dirty="0"/>
              <a:t>: </a:t>
            </a:r>
          </a:p>
          <a:p>
            <a:pPr marL="1200150" lvl="2" indent="-285750" algn="ctr">
              <a:buFont typeface="Arial" panose="020B0604020202020204" pitchFamily="34" charset="0"/>
              <a:buChar char="•"/>
            </a:pPr>
            <a:r>
              <a:rPr lang="en-US" b="1" dirty="0"/>
              <a:t>ZigBee / Bluetooth LE / Z-Wave</a:t>
            </a:r>
            <a:endParaRPr lang="en-US" dirty="0"/>
          </a:p>
          <a:p>
            <a:pPr lvl="1" algn="ctr">
              <a:buFont typeface="Arial" panose="020B0604020202020204" pitchFamily="34" charset="0"/>
              <a:buChar char="•"/>
            </a:pPr>
            <a:r>
              <a:rPr lang="en-US" b="1" dirty="0"/>
              <a:t>Label</a:t>
            </a:r>
            <a:r>
              <a:rPr lang="en-US" dirty="0"/>
              <a:t>: </a:t>
            </a:r>
            <a:r>
              <a:rPr lang="en-US" dirty="0" err="1">
                <a:latin typeface="Courier New" panose="02070309020205020404" pitchFamily="49" charset="0"/>
              </a:rPr>
              <a:t>SensorConfigUpdate</a:t>
            </a:r>
            <a:r>
              <a:rPr lang="en-US" dirty="0">
                <a:latin typeface="Courier New" panose="02070309020205020404" pitchFamily="49" charset="0"/>
              </a:rPr>
              <a:t> (ZigBee/BTLE)</a:t>
            </a:r>
            <a:endParaRPr lang="en-US" dirty="0"/>
          </a:p>
        </p:txBody>
      </p:sp>
      <p:sp>
        <p:nvSpPr>
          <p:cNvPr id="12" name="TextBox 11">
            <a:extLst>
              <a:ext uri="{FF2B5EF4-FFF2-40B4-BE49-F238E27FC236}">
                <a16:creationId xmlns:a16="http://schemas.microsoft.com/office/drawing/2014/main" id="{BF63A885-8C4C-AE13-5838-1D15509B7273}"/>
              </a:ext>
            </a:extLst>
          </p:cNvPr>
          <p:cNvSpPr txBox="1"/>
          <p:nvPr/>
        </p:nvSpPr>
        <p:spPr>
          <a:xfrm>
            <a:off x="505057" y="4004421"/>
            <a:ext cx="5791200" cy="2031325"/>
          </a:xfrm>
          <a:prstGeom prst="rect">
            <a:avLst/>
          </a:prstGeom>
          <a:noFill/>
        </p:spPr>
        <p:txBody>
          <a:bodyPr wrap="square">
            <a:spAutoFit/>
          </a:bodyPr>
          <a:lstStyle/>
          <a:p>
            <a:pPr>
              <a:buNone/>
            </a:pPr>
            <a:r>
              <a:rPr lang="en-US" b="1" dirty="0"/>
              <a:t>3. IoT Sensors → Smart Hub</a:t>
            </a:r>
          </a:p>
          <a:p>
            <a:pPr lvl="1">
              <a:buFont typeface="Arial" panose="020B0604020202020204" pitchFamily="34" charset="0"/>
              <a:buChar char="•"/>
            </a:pPr>
            <a:r>
              <a:rPr lang="en-US" b="1" dirty="0"/>
              <a:t>Message</a:t>
            </a:r>
            <a:r>
              <a:rPr lang="en-US" dirty="0"/>
              <a:t>: Sensor events (e.g., motion detected, temperature change)</a:t>
            </a:r>
          </a:p>
          <a:p>
            <a:pPr lvl="1">
              <a:buFont typeface="Arial" panose="020B0604020202020204" pitchFamily="34" charset="0"/>
              <a:buChar char="•"/>
            </a:pPr>
            <a:r>
              <a:rPr lang="en-US" b="1" dirty="0"/>
              <a:t>Communication Method</a:t>
            </a:r>
            <a:r>
              <a:rPr lang="en-US" dirty="0"/>
              <a:t>: </a:t>
            </a:r>
          </a:p>
          <a:p>
            <a:pPr marL="1200150" lvl="2" indent="-285750">
              <a:buFont typeface="Arial" panose="020B0604020202020204" pitchFamily="34" charset="0"/>
              <a:buChar char="•"/>
            </a:pPr>
            <a:r>
              <a:rPr lang="en-US" b="1" dirty="0"/>
              <a:t>Low-energy wireless protocols</a:t>
            </a:r>
            <a:endParaRPr lang="en-US" dirty="0"/>
          </a:p>
          <a:p>
            <a:pPr lvl="1">
              <a:buFont typeface="Arial" panose="020B0604020202020204" pitchFamily="34" charset="0"/>
              <a:buChar char="•"/>
            </a:pPr>
            <a:r>
              <a:rPr lang="en-US" b="1" dirty="0"/>
              <a:t>Label</a:t>
            </a:r>
            <a:r>
              <a:rPr lang="en-US" dirty="0"/>
              <a:t>: </a:t>
            </a:r>
            <a:r>
              <a:rPr lang="en-US" dirty="0" err="1">
                <a:latin typeface="Courier New" panose="02070309020205020404" pitchFamily="49" charset="0"/>
              </a:rPr>
              <a:t>SensorEventNotification</a:t>
            </a:r>
            <a:r>
              <a:rPr lang="en-US" dirty="0">
                <a:latin typeface="Courier New" panose="02070309020205020404" pitchFamily="49" charset="0"/>
              </a:rPr>
              <a:t> (ZigBee/BTLE)</a:t>
            </a:r>
            <a:endParaRPr lang="en-US" dirty="0"/>
          </a:p>
        </p:txBody>
      </p:sp>
      <p:sp>
        <p:nvSpPr>
          <p:cNvPr id="14" name="TextBox 13">
            <a:extLst>
              <a:ext uri="{FF2B5EF4-FFF2-40B4-BE49-F238E27FC236}">
                <a16:creationId xmlns:a16="http://schemas.microsoft.com/office/drawing/2014/main" id="{D2DE81F0-2E7D-BC16-1A27-0CCFD59FDBB8}"/>
              </a:ext>
            </a:extLst>
          </p:cNvPr>
          <p:cNvSpPr txBox="1"/>
          <p:nvPr/>
        </p:nvSpPr>
        <p:spPr>
          <a:xfrm>
            <a:off x="6296257" y="3866602"/>
            <a:ext cx="5390685" cy="2031325"/>
          </a:xfrm>
          <a:prstGeom prst="rect">
            <a:avLst/>
          </a:prstGeom>
          <a:noFill/>
        </p:spPr>
        <p:txBody>
          <a:bodyPr wrap="square">
            <a:spAutoFit/>
          </a:bodyPr>
          <a:lstStyle/>
          <a:p>
            <a:pPr>
              <a:buNone/>
            </a:pPr>
            <a:r>
              <a:rPr lang="en-US" b="1" dirty="0"/>
              <a:t> 4. Smart Hub → Smart Speakers</a:t>
            </a:r>
          </a:p>
          <a:p>
            <a:pPr lvl="1">
              <a:buFont typeface="Arial" panose="020B0604020202020204" pitchFamily="34" charset="0"/>
              <a:buChar char="•"/>
            </a:pPr>
            <a:r>
              <a:rPr lang="en-US" b="1" dirty="0"/>
              <a:t>Message</a:t>
            </a:r>
            <a:r>
              <a:rPr lang="en-US" dirty="0"/>
              <a:t>: Voice command processing, status updates</a:t>
            </a:r>
          </a:p>
          <a:p>
            <a:pPr lvl="1">
              <a:buFont typeface="Arial" panose="020B0604020202020204" pitchFamily="34" charset="0"/>
              <a:buChar char="•"/>
            </a:pPr>
            <a:r>
              <a:rPr lang="en-US" b="1" dirty="0"/>
              <a:t>Communication Method</a:t>
            </a:r>
            <a:r>
              <a:rPr lang="en-US" dirty="0"/>
              <a:t>: </a:t>
            </a:r>
          </a:p>
          <a:p>
            <a:pPr marL="1200150" lvl="2" indent="-285750">
              <a:buFont typeface="Arial" panose="020B0604020202020204" pitchFamily="34" charset="0"/>
              <a:buChar char="•"/>
            </a:pPr>
            <a:r>
              <a:rPr lang="en-US" b="1" dirty="0"/>
              <a:t>Local Wi-Fi / MQTT</a:t>
            </a:r>
            <a:endParaRPr lang="en-US" dirty="0"/>
          </a:p>
          <a:p>
            <a:pPr lvl="1">
              <a:buFont typeface="Arial" panose="020B0604020202020204" pitchFamily="34" charset="0"/>
              <a:buChar char="•"/>
            </a:pPr>
            <a:r>
              <a:rPr lang="en-US" b="1" dirty="0"/>
              <a:t>Label</a:t>
            </a:r>
            <a:r>
              <a:rPr lang="en-US" dirty="0"/>
              <a:t>: </a:t>
            </a:r>
            <a:r>
              <a:rPr lang="en-US" dirty="0" err="1">
                <a:latin typeface="Courier New" panose="02070309020205020404" pitchFamily="49" charset="0"/>
              </a:rPr>
              <a:t>VoiceCommandRelay</a:t>
            </a:r>
            <a:r>
              <a:rPr lang="en-US" dirty="0">
                <a:latin typeface="Courier New" panose="02070309020205020404" pitchFamily="49" charset="0"/>
              </a:rPr>
              <a:t> (MQTT/Wi-Fi)</a:t>
            </a:r>
            <a:endParaRPr lang="en-US" dirty="0"/>
          </a:p>
        </p:txBody>
      </p:sp>
    </p:spTree>
    <p:extLst>
      <p:ext uri="{BB962C8B-B14F-4D97-AF65-F5344CB8AC3E}">
        <p14:creationId xmlns:p14="http://schemas.microsoft.com/office/powerpoint/2010/main" val="3529974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136E87-E2C4-5F3A-5741-2DF2969F53FD}"/>
              </a:ext>
            </a:extLst>
          </p:cNvPr>
          <p:cNvPicPr>
            <a:picLocks noChangeAspect="1"/>
          </p:cNvPicPr>
          <p:nvPr/>
        </p:nvPicPr>
        <p:blipFill>
          <a:blip r:embed="rId2"/>
          <a:stretch>
            <a:fillRect/>
          </a:stretch>
        </p:blipFill>
        <p:spPr>
          <a:xfrm>
            <a:off x="535258" y="778821"/>
            <a:ext cx="7750098" cy="4718606"/>
          </a:xfrm>
          <a:prstGeom prst="rect">
            <a:avLst/>
          </a:prstGeom>
        </p:spPr>
      </p:pic>
      <p:sp>
        <p:nvSpPr>
          <p:cNvPr id="6" name="Content Placeholder 2">
            <a:extLst>
              <a:ext uri="{FF2B5EF4-FFF2-40B4-BE49-F238E27FC236}">
                <a16:creationId xmlns:a16="http://schemas.microsoft.com/office/drawing/2014/main" id="{858E7DF2-718A-B2C9-D2E2-5B1066209D7F}"/>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486077" y="778821"/>
            <a:ext cx="2850475" cy="4855464"/>
          </a:xfrm>
        </p:spPr>
        <p:txBody>
          <a:bodyPr>
            <a:normAutofit lnSpcReduction="10000"/>
          </a:bodyPr>
          <a:lstStyle/>
          <a:p>
            <a:pPr marL="0" indent="0">
              <a:spcBef>
                <a:spcPts val="2500"/>
              </a:spcBef>
              <a:buFont typeface="Arial" panose="020B0604020202020204" pitchFamily="34" charset="0"/>
              <a:buNone/>
            </a:pPr>
            <a:r>
              <a:rPr lang="en-US" b="1" dirty="0"/>
              <a:t>User Rule Configuration</a:t>
            </a:r>
          </a:p>
          <a:p>
            <a:pPr marL="0" lvl="1" indent="0">
              <a:buFont typeface="Arial" panose="020B0604020202020204" pitchFamily="34" charset="0"/>
              <a:buNone/>
            </a:pPr>
            <a:r>
              <a:rPr dirty="0"/>
              <a:t>An authenticated user sets lighting behavior rules through a mobile application interface.</a:t>
            </a:r>
            <a:endParaRPr lang="en-US" dirty="0"/>
          </a:p>
          <a:p>
            <a:pPr marL="0" indent="0">
              <a:spcBef>
                <a:spcPts val="2500"/>
              </a:spcBef>
              <a:buFont typeface="Arial" panose="020B0604020202020204" pitchFamily="34" charset="0"/>
              <a:buNone/>
            </a:pPr>
            <a:r>
              <a:rPr lang="en-US" b="1" dirty="0"/>
              <a:t>Hub Communication</a:t>
            </a:r>
          </a:p>
          <a:p>
            <a:pPr marL="0" lvl="1" indent="0">
              <a:buFont typeface="Arial" panose="020B0604020202020204" pitchFamily="34" charset="0"/>
              <a:buNone/>
            </a:pPr>
            <a:r>
              <a:rPr dirty="0"/>
              <a:t>The hub receives and relays lighting rules from the app to the lighting system components.</a:t>
            </a:r>
            <a:endParaRPr lang="en-US" dirty="0"/>
          </a:p>
          <a:p>
            <a:pPr marL="0" indent="0">
              <a:spcBef>
                <a:spcPts val="2500"/>
              </a:spcBef>
              <a:buFont typeface="Arial" panose="020B0604020202020204" pitchFamily="34" charset="0"/>
              <a:buNone/>
            </a:pPr>
            <a:r>
              <a:rPr lang="en-US" b="1" dirty="0"/>
              <a:t>Sensor-Triggered Actions</a:t>
            </a:r>
          </a:p>
          <a:p>
            <a:pPr marL="0" lvl="1" indent="0">
              <a:buFont typeface="Arial" panose="020B0604020202020204" pitchFamily="34" charset="0"/>
              <a:buNone/>
            </a:pPr>
            <a:r>
              <a:rPr dirty="0"/>
              <a:t>Lighting system actions are activated in response to sensor input events automatically.</a:t>
            </a:r>
            <a:endParaRPr lang="en-US" dirty="0"/>
          </a:p>
          <a:p>
            <a:pPr marL="0" indent="0">
              <a:spcBef>
                <a:spcPts val="2500"/>
              </a:spcBef>
              <a:buFont typeface="Arial" panose="020B0604020202020204" pitchFamily="34" charset="0"/>
              <a:buNone/>
            </a:pPr>
            <a:r>
              <a:rPr lang="en-US" b="1" dirty="0"/>
              <a:t>Dynamic Interaction Clarity</a:t>
            </a:r>
          </a:p>
          <a:p>
            <a:pPr marL="0" lvl="1" indent="0">
              <a:buFont typeface="Arial" panose="020B0604020202020204" pitchFamily="34" charset="0"/>
              <a:buNone/>
            </a:pPr>
            <a:r>
              <a:rPr dirty="0"/>
              <a:t>The diagram clarifies component interactions and expected system behavior for developers.</a:t>
            </a:r>
            <a:endParaRPr lang="en-US" dirty="0"/>
          </a:p>
        </p:txBody>
      </p:sp>
    </p:spTree>
    <p:extLst>
      <p:ext uri="{BB962C8B-B14F-4D97-AF65-F5344CB8AC3E}">
        <p14:creationId xmlns:p14="http://schemas.microsoft.com/office/powerpoint/2010/main" val="40595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689D-28F1-EEFB-7428-C001252F4081}"/>
              </a:ext>
            </a:extLst>
          </p:cNvPr>
          <p:cNvSpPr>
            <a:spLocks noGrp="1"/>
          </p:cNvSpPr>
          <p:nvPr>
            <p:ph type="title"/>
          </p:nvPr>
        </p:nvSpPr>
        <p:spPr>
          <a:xfrm>
            <a:off x="833582" y="1537853"/>
            <a:ext cx="3922776" cy="4087368"/>
          </a:xfrm>
        </p:spPr>
        <p:txBody>
          <a:bodyPr anchor="t">
            <a:normAutofit/>
          </a:bodyPr>
          <a:lstStyle/>
          <a:p>
            <a:r>
              <a:rPr lang="en-US"/>
              <a:t>Architectural Patterns</a:t>
            </a:r>
          </a:p>
        </p:txBody>
      </p:sp>
      <p:graphicFrame>
        <p:nvGraphicFramePr>
          <p:cNvPr id="7" name="Content Placeholder 2">
            <a:extLst>
              <a:ext uri="{FF2B5EF4-FFF2-40B4-BE49-F238E27FC236}">
                <a16:creationId xmlns:a16="http://schemas.microsoft.com/office/drawing/2014/main" id="{D4EACC5D-40F8-2D54-71A2-CE5565E4C608}"/>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43475" y="1538288"/>
          <a:ext cx="6404229" cy="40873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091681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8C93-6369-8F79-9E76-A763A8EDDA42}"/>
              </a:ext>
            </a:extLst>
          </p:cNvPr>
          <p:cNvSpPr>
            <a:spLocks noGrp="1"/>
          </p:cNvSpPr>
          <p:nvPr>
            <p:ph type="title"/>
          </p:nvPr>
        </p:nvSpPr>
        <p:spPr>
          <a:xfrm>
            <a:off x="832104" y="832104"/>
            <a:ext cx="3493008" cy="4940661"/>
          </a:xfrm>
        </p:spPr>
        <p:txBody>
          <a:bodyPr anchor="t">
            <a:normAutofit/>
          </a:bodyPr>
          <a:lstStyle/>
          <a:p>
            <a:r>
              <a:rPr lang="en-US"/>
              <a:t>Key Learnings</a:t>
            </a:r>
          </a:p>
        </p:txBody>
      </p:sp>
      <p:sp>
        <p:nvSpPr>
          <p:cNvPr id="3" name="Content Placeholder 2">
            <a:extLst>
              <a:ext uri="{FF2B5EF4-FFF2-40B4-BE49-F238E27FC236}">
                <a16:creationId xmlns:a16="http://schemas.microsoft.com/office/drawing/2014/main" id="{33606122-FD5C-E60B-B6C8-BEDA1D62E9D8}"/>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0" y="832104"/>
            <a:ext cx="6775704" cy="4937760"/>
          </a:xfrm>
        </p:spPr>
        <p:txBody>
          <a:bodyPr>
            <a:normAutofit/>
          </a:bodyPr>
          <a:lstStyle/>
          <a:p>
            <a:pPr marL="0" indent="0">
              <a:spcBef>
                <a:spcPts val="2500"/>
              </a:spcBef>
              <a:buFont typeface="Arial" panose="020B0604020202020204" pitchFamily="34" charset="0"/>
              <a:buNone/>
            </a:pPr>
            <a:r>
              <a:rPr lang="en-US" b="1"/>
              <a:t>High Availability Importance</a:t>
            </a:r>
          </a:p>
          <a:p>
            <a:pPr marL="0" lvl="1" indent="0">
              <a:buFont typeface="Arial" panose="020B0604020202020204" pitchFamily="34" charset="0"/>
              <a:buNone/>
            </a:pPr>
            <a:r>
              <a:t>High availability is critical for systems like gas management to ensure safety and reliability.</a:t>
            </a:r>
            <a:endParaRPr lang="en-US"/>
          </a:p>
          <a:p>
            <a:pPr marL="0" indent="0">
              <a:spcBef>
                <a:spcPts val="2500"/>
              </a:spcBef>
              <a:buFont typeface="Arial" panose="020B0604020202020204" pitchFamily="34" charset="0"/>
              <a:buNone/>
            </a:pPr>
            <a:r>
              <a:rPr lang="en-US" b="1"/>
              <a:t>Fail-Safe System Design</a:t>
            </a:r>
          </a:p>
          <a:p>
            <a:pPr marL="0" lvl="1" indent="0">
              <a:buFont typeface="Arial" panose="020B0604020202020204" pitchFamily="34" charset="0"/>
              <a:buNone/>
            </a:pPr>
            <a:r>
              <a:t>Systems should default to safe modes or recover quickly from failures to protect users.</a:t>
            </a:r>
            <a:endParaRPr lang="en-US"/>
          </a:p>
          <a:p>
            <a:pPr marL="0" indent="0">
              <a:spcBef>
                <a:spcPts val="2500"/>
              </a:spcBef>
              <a:buFont typeface="Arial" panose="020B0604020202020204" pitchFamily="34" charset="0"/>
              <a:buNone/>
            </a:pPr>
            <a:r>
              <a:rPr lang="en-US" b="1"/>
              <a:t>Future-Proof Architecture</a:t>
            </a:r>
          </a:p>
          <a:p>
            <a:pPr marL="0" lvl="1" indent="0">
              <a:buFont typeface="Arial" panose="020B0604020202020204" pitchFamily="34" charset="0"/>
              <a:buNone/>
            </a:pPr>
            <a:r>
              <a:t>Design must accommodate evolving smart home technologies for long-term adaptability.</a:t>
            </a:r>
            <a:endParaRPr lang="en-US"/>
          </a:p>
          <a:p>
            <a:pPr marL="0" indent="0">
              <a:spcBef>
                <a:spcPts val="2500"/>
              </a:spcBef>
              <a:buFont typeface="Arial" panose="020B0604020202020204" pitchFamily="34" charset="0"/>
              <a:buNone/>
            </a:pPr>
            <a:r>
              <a:rPr lang="en-US" b="1"/>
              <a:t>Visual Planning Tools</a:t>
            </a:r>
          </a:p>
          <a:p>
            <a:pPr marL="0" lvl="1" indent="0">
              <a:buFont typeface="Arial" panose="020B0604020202020204" pitchFamily="34" charset="0"/>
              <a:buNone/>
            </a:pPr>
            <a:r>
              <a:t>Component and sequence diagrams help teams plan, estimate costs, and streamline development.</a:t>
            </a:r>
            <a:endParaRPr lang="en-US"/>
          </a:p>
        </p:txBody>
      </p:sp>
    </p:spTree>
    <p:extLst>
      <p:ext uri="{BB962C8B-B14F-4D97-AF65-F5344CB8AC3E}">
        <p14:creationId xmlns:p14="http://schemas.microsoft.com/office/powerpoint/2010/main" val="20599420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lassical academi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2BAF2CE-2C32-498E-B467-6C60C37679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3.xml><?xml version="1.0" encoding="utf-8"?>
<ds:datastoreItem xmlns:ds="http://schemas.openxmlformats.org/officeDocument/2006/customXml" ds:itemID="{52185BFC-6E97-4C88-9034-F2A7ED1C005E}">
  <ds:schemaRefs>
    <ds:schemaRef ds:uri="http://purl.org/dc/terms/"/>
    <ds:schemaRef ds:uri="http://purl.org/dc/dcmitype/"/>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230e9df3-be65-4c73-a93b-d1236ebd677e"/>
    <ds:schemaRef ds:uri="16c05727-aa75-4e4a-9b5f-8a80a1165891"/>
    <ds:schemaRef ds:uri="http://schemas.microsoft.com/office/2006/documentManagement/types"/>
    <ds:schemaRef ds:uri="71af3243-3dd4-4a8d-8c0d-dd76da1f02a5"/>
    <ds:schemaRef ds:uri="http://schemas.microsoft.com/sharepoint/v3"/>
    <ds:schemaRef ds:uri="http://www.w3.org/XML/1998/namespace"/>
  </ds:schemaRefs>
</ds:datastoreItem>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emplate/>
  <TotalTime>10244</TotalTime>
  <Words>1607</Words>
  <Application>Microsoft Office PowerPoint</Application>
  <PresentationFormat>Widescreen</PresentationFormat>
  <Paragraphs>145</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Courier New</vt:lpstr>
      <vt:lpstr>Playfair Display</vt:lpstr>
      <vt:lpstr>Raleway</vt:lpstr>
      <vt:lpstr>Classical academia</vt:lpstr>
      <vt:lpstr>Smart Home System Architecture  A S Puneeth Kumar 2024mt13102  </vt:lpstr>
      <vt:lpstr>Goals of the Smart Home System</vt:lpstr>
      <vt:lpstr>Utility Tree of Top ASRs</vt:lpstr>
      <vt:lpstr>Tactics to Achieve ASRs</vt:lpstr>
      <vt:lpstr>PowerPoint Presentation</vt:lpstr>
      <vt:lpstr>PowerPoint Presentation</vt:lpstr>
      <vt:lpstr>Component Connector Diagram</vt:lpstr>
      <vt:lpstr>Deployment Diagram</vt:lpstr>
      <vt:lpstr>PowerPoint Presentation</vt:lpstr>
      <vt:lpstr>PowerPoint Presentation</vt:lpstr>
      <vt:lpstr>Architectural Patterns</vt:lpstr>
      <vt:lpstr>Key 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Kumar A S, Puneeth (IFS)</dc:creator>
  <cp:lastModifiedBy>Kumar A S, Puneeth (IFS)</cp:lastModifiedBy>
  <cp:revision>18</cp:revision>
  <dcterms:created xsi:type="dcterms:W3CDTF">2024-06-26T20:20:27Z</dcterms:created>
  <dcterms:modified xsi:type="dcterms:W3CDTF">2025-11-02T11:00:39Z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